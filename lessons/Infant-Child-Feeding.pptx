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9e47426-ea41-bea9-4ac9-7841bb506e0c}">
          <p14:sldIdLst>
            <p14:sldId id="256"/>
            <p14:sldId id="257"/>
            <p14:sldId id="258"/>
            <p14:sldId id="259"/>
          </p14:sldIdLst>
        </p14:section>
        <p14:section name="Part 1 · Breastfeeding" id="{718a34d5-5ed1-ec6d-99be-956e30e1b729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Part 2 · Artificial Feeding" id="{261068da-92fd-b1c2-c9f5-8c5f104604b9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Part 3 · NG Tube Feeding" id="{1723957f-a785-1f1c-9058-a5d4e8d06698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Part 4 · Weaning" id="{c9ecaa8d-c21b-e935-c713-a174f20b78a4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Review" id="{fcbeec76-0ad1-f819-ddd1-b1d9a22fd8ec}">
          <p14:sldIdLst>
            <p14:sldId id="293"/>
            <p14:sldId id="294"/>
            <p14:sldId id="295"/>
            <p14:sldId id="296"/>
            <p14:sldId id="2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Introduce the four parts of the lesson.
شرح عربي:
مرحبًا بكم في محاضرة تغذية الرضيع والطفل. تتكون من أربعة أجزاء:
• الرضاعة الطبيعية
• التغذية الصناعية
• التغذية بالأنبوب الأنفي المعدي (NG)
• الفطام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≈1 min. Read the outcomes aloud.
شرح عربي:
أهداف الدرس: في نهاية المحاضرة يستطيع الطالب أن:
• يشرح الرضاعة الطبيعية الحصرية واللبأ، ويعلّم طريقة الإرضاع الصحيحة.
• يعلّم التحضير الآمن للحليب الصناعي وطريقة الرضاعة بالزجاجة.
• يطبّق التغذية الآمنة بالأنبوب الأنفي المعدي ويتعرف على مضاعفاتها.
• يرشد الأهل في الفطام والتغذية التكميلية.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vote, then show the next slide for the answers.
Teacher notes:
≈4 min. Students vote with thumbs up (fact) or down (myth), then flip the card.
شرح عربي:
نشاط افتتاحي: «خرافة أم حقيقة؟» اطلب من الطلاب التصويت قبل قلب كل بطاقة.
• الرضيع تحت ٦ أشهر يحتاج ماء أو عصير ← خرافة.
• التخلص من الحليب الأصفر الأول ← خرافة (إنه اللبأ).
• ٨–١٢ رضعة في ٢٤ ساعة ← حقيقة.
• البكاء أول علامة جوع ← خرافة (علامة متأخرة).
• التخلص من بقايا الحليب الصناعي ← حقيقة.
• التهوّع صاخب ووقائي ← حقيقة.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≈4 min. Students vote with thumbs up (fact) or down (myth), then flip the card.
شرح عربي:
نشاط افتتاحي: «خرافة أم حقيقة؟» اطلب من الطلاب التصويت قبل قلب كل بطاقة.
• الرضيع تحت ٦ أشهر يحتاج ماء أو عصير ← خرافة.
• التخلص من الحليب الأصفر الأول ← خرافة (إنه اللبأ).
• ٨–١٢ رضعة في ٢٤ ساعة ← حقيقة.
• البكاء أول علامة جوع ← خرافة (علامة متأخرة).
• التخلص من بقايا الحليب الصناعي ← حقيقة.
• التهوّع صاخب ووقائي ← حقيقة.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Pose the guiding question and leave it open until the colostrum slide.
شرح عربي:
الجزء الأول: الرضاعة الطبيعية — التعريف، الفوائد، اللبأ، طريقة الإرضاع، علامات الرضاعة الفعّالة، وعدد الرضعات والتجشؤ.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Point to the crossed-out icons: no water, no juice, no other foods. Ask: “What changes at 6 months?”
شرح عربي:
الرضاعة الطبيعية: إطعام الرضيع حليب الأم مباشرة من الثدي.
الرضاعة الطبيعية الحصرية: حليب الأم هو الطعام والشراب الوحيد، ويُنصح بها خلال أول ٦ أشهر، ولا يحتاج الطفل إلى ماء أو عصير أو أطعمة أخرى بشكل روتيني.
بعد ٦ أشهر: نستمر في الرضاعة الطبيعية ونبدأ الأطعمة التكميلية.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Ask students to guess each benefit before you reveal it.
شرح عربي:
فوائد للرضيع: تغذية مثالية، سهل الهضم، يحتوي على أجسام مضادة وعوامل مناعية، يقلل التهابات الجهاز التنفسي والهضمي، يدعم النمو والتطور الطبيعي، ويقلل خطر زيادة الوزن والسمنة في الطفولة.
فوائد للأم: يساعد على انقباض الرحم بعد الولادة، قد يقلل نزيف ما بعد الولادة، يعزز الترابط بين الأم والطفل، ومريح واقتصادي.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Answer the guiding question from the divider. The Y shapes around the drop are antibodies (IgA).
شرح عربي:
اللبأ (Colostrum): الحليب الأصفر الكثيف الذي يُفرز في الأيام الأولى بعد الولادة.
• غني بالأجسام المضادة، خصوصًا IgA.
• غني بالبروتينات والخلايا المناعية.
• سهل الهضم.
• يحمي من العدوى.
• يساعد على تهيئة الجهاز الهضمي للرضيع.
مهم: لا يجوز التخلص من اللبأ.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≈4 min. Use the latch picture for steps 5 and 6, and the two figures for “head and body in a straight line”.
شرح عربي:
يعلّم الممرض الأم:
• غسل اليدين.
• اختيار وضعية مريحة.
• إبقاء رأس الطفل وجسمه على خط مستقيم.
• إبقاء الطفل قريبًا من الأم.
• يجب أن يفتح الطفل فمه على اتساعه.
• يأخذ الطفل الحلمة وجزءًا كبيرًا من الهالة في فمه.
• ملاحظة المص والبلع الفعّالين.
• ترك الطفل ينهي ثديًا واحدًا قبل تقديم الآخر.
الالتقام الجيد ← ألم أقل في الحلمة + نقل فعّال للحليب.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Compare the two diagrams. Ask: “Which signs on the list can you see in the good latch picture?”
شرح عربي:
علامات الرضاعة الفعّالة التي يلاحظها الممرض:
• فم الطفل مفتوح على اتساعه.
• الذقن يلامس الثدي.
• الهالة الظاهرة فوق فم الطفل أكثر من أسفله.
• مص بطيء وعميق.
• بلع مسموع.
• يبدو الطفل راضيًا بعد الرضعة.
• كمية بول كافية وزيادة في الوزن.
الالتقام الضعيف قد يسبب: ألم الحلمة، تشقق الحلمة، ضعف انتقال الحليب، وعدم كفاية زيادة وزن الرضيع.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Ask students to act out each cue before you point to its animation. Stress that crying is late.
شرح عربي:
نرضع المولود حسب الطلب وفق علامات الجوع. معظم المواليد يرضعون تقريبًا ٨–١٢ مرة كل ٢٤ ساعة. نتجنب الجداول الصارمة في الفترة الأولى بعد الولادة.
علامات الجوع: البحث عن الثدي (Rooting)، تحريك اليد إلى الفم، مص الشفاه، التململ. البكاء علامة جوع متأخرة.
بعد الرضعة: نحمل الطفل بوضع قائم، وقد يفيد التجشؤ خاصة إذا ابتلع الطفل هواءً.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Q1 B · Q2 C · Q3 C · Q4 B (shown on the next slide).
Teacher notes:
≈3 min. Give 10 seconds per question before clicking. Use R to pick who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Give 10 seconds per question before clicking. Use R to pick who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Pose the guiding question. The answer comes on the preparation and complications slides.
شرح عربي:
الجزء الثاني: التغذية الصناعية — التعريف، أنواع الحليب الصناعي، التحضير الآمن، طريقة الرضاعة بالزجاجة، والمضاعفات.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Go through the four situations, then stress the “Important” line.
شرح عربي:
التغذية الصناعية: إطعام الرضيع بالحليب الصناعي بدلًا من حليب الأم، جزئيًا أو كليًا.
قد تُستخدم عندما:
• تكون الرضاعة الطبيعية ممنوعة طبيًا.
• يكون حليب الأم غير متوفر أو غير كافٍ.
• تختار الأم الحليب الصناعي.
• توجد حالات طبية تتطلب تغذية بديلة.
مهم: حليب الأم هو المفضّل متى كان آمنًا ومتوفرًا.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Introduce each type of formula in turn.
شرح عربي:
أنواع الحليب الصناعي الشائعة:
• الحليب العادي المعتمد على حليب البقر: مناسب لمعظم الرضّع الأصحاء مكتملي النمو.
• حليب الخدّج: مصمم للمواليد المبتسرين حسب الإرشاد الطبي.
• الحليب الخاص: لحالات مثل حساسية بروتين حليب البقر، بعض الاضطرابات الاستقلابية، وسوء الامتصاص.
يُختار الحليب حسب احتياجات الرضيع ونصيحة الفريق الصحي.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Ask students to read the steps aloud in order.
شرح عربي:
يعلّم الممرض مقدّم الرعاية:
• غسل اليدين.
• تنظيف أدوات الرضاعة.
• استخدام ماء شرب آمن.
• اتباع نسبة الماء إلى البودرة التي تحددها الشركة المصنعة بدقة.
• قياس الماء والحليب بدقة.
• عدم إضافة بودرة زائدة.
• عدم تخفيف الحليب أكثر من اللازم.
• تحضير الرضعات بأمان وتخزينها حسب التعليمات.
• التخلص من بقايا الحليب بعد الرضعة.
التخفيف الخاطئ قد يسبب مضاعفات خطيرة.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pictures come from the interactive 3D model in the HTML version of this lesson.
Teacher notes:
≈3 min. Compare the two 3D pictures: tilted bottle = nipple full of milk; too flat = air in the nipple.
شرح عربي:
طريقة الرضاعة بالزجاجة:
• حمل الرضيع بوضع شبه قائم، مع دعم الرأس والرقبة.
• إمالة الزجاجة بحيث تبقى الحلمة مليئة بالحليب.
• السماح للطفل بالتوقف أثناء الرضعة، والتجشؤ عند الحاجة.
ممنوع: إجبار الطفل على إنهاء الزجاجة، إسناد الزجاجة وترك الطفل وحده، أو إرضاعه وهو مستلقٍ تمامًا.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Ask students to link each complication back to a preparation or technique step.
شرح عربي:
مضاعفات التغذية الصناعية المحتملة:
• الإفراط في التغذية.
• القيء أو الارتجاع.
• الإسهال.
• الإمساك.
• عدم تحمّل الحليب.
• العدوى من الزجاجات أو الحليب الملوث.
• التحضير الخاطئ ← الجفاف أو اضطراب الأملاح.
• زيادة خطر تسوس الأسنان مع الاستخدام الطويل غير المناسب للزجاجة.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Q1 B · Q2 B · Q3 B · Q4 B (shown on the next slide).
Teacher notes:
≈3 min. Ask a different student for each question (R).
شرح عربي:
اختبار سريع للجزء الثاني.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Ask a different student for each question (R).
شرح عربي:
اختبار سريع للجزء الثاني.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Pose the guiding question. The answer is tube placement.
شرح عربي:
الجزء الثالث: التغذية بالأنبوب الأنفي المعدي (NG) — التعريف، دواعي الاستخدام، ما قبل التغذية، خطوات الإجراء، والمضاعفات.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picture comes from the interactive 3D model in the HTML version (with the tube insertion animation).
Teacher notes:
≈3 min. Trace the path on the 3D picture: nose → oesophagus → stomach. Point out that the airway sits right in front of the oesophagus.
شرح عربي:
التغذية بالأنبوب الأنفي المعدي: إعطاء الغذاء أو السوائل أو الدواء عبر أنبوب يُدخل من الأنف إلى المعدة.
قد تُستخدم عندما الرضيع أو الطفل:
• لا يستطيع الأكل بأمان عن طريق الفم.
• كمية أكله عن طريق الفم غير كافية.
• لديه ضعف في البلع.
• لديه حالات عصبية أو طبية معينة.
• يحتاج تغذية معوية مؤقتة.
تتطلب كادرًا صحيًا مدرّبًا والتحقق المناسب من موضع الأنبوب.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Ask for a clinical example from placement for each icon.
شرح عربي:
قد تُستطب التغذية بالأنبوب في:
• الخدّج أو الرضّع غير المستقرين طبيًا مع تغذية فموية غير كافية.
• الاضطرابات العصبية التي تؤثر على البلع.
• انخفاض مستوى الوعي عندما تكون التغذية المعوية مناسبة.
• الضعف أو التعب الشديد أثناء الرضاعة الفموية.
• الحالات التي تسبب نقص الأكل الفموي.
يجب أن يكون الجهاز الهضمي يعمل حتى نعطي تغذية معوية.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 student to read each check aloud and tick it on the board.
Teacher notes:
≈3 min. Ask a student to read each check aloud.
شرح عربي:
قبل التغذية بالأنبوب، يجب على الممرض:
• التحقق من وصفة التغذية.
• التأكد من هوية المريض.
• تقييم حالة الرضيع.
• التحقق من موضع الأنبوب بالطريقة المعتمدة في المؤسسة.
• تقييم حالة البطن وتحمّل التغذية.
• التحقق من نوع الحليب الموصوف وكميته وسرعته.
• نظافة اليدين.
لا تُعطَ أي رضعة إذا كان موضع الأنبوب غير مؤكد.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Walk the timeline; at step 7, point to the STOP box and its four signs.
شرح عربي:
خطوات التغذية بالأنبوب:
• نظافة اليدين.
• وضع الرضيع بأمان، غالبًا بوضع شبه قائم.
• التحقق من موضع الأنبوب حسب البروتوكول.
• التحقق من الرضعة الموصوفة.
• إعطاء الرضعة بالسرعة الموصوفة.
• مراقبة الرضيع طوال الرضعة.
• إيقاف التغذية عند ظهور علامات مقلقة.
• غسل الأنبوب فقط حسب البروتوكول الموصوف أو المناسب.
• إبقاء الرضيع في وضعية مناسبة بعد التغذية.
• توثيق الرضعة واستجابة الرضيع.
أوقف التغذية عند ضيق التنفس الشديد أو القيء أو السعال أو الزرقة أو أي علامة مقلقة أخرى.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Use the animation: cream drops follow the normal path; the red drop shows aspiration.
شرح عربي:
المضاعفات المحتملة:
• تنفسية: الاستنشاق (Aspiration)، السعال، ضيق التنفس، الزرقة.
• هضمية: القيء، انتفاخ البطن، الإسهال، الإمساك، عدم تحمّل التغذية.
• متعلقة بالأنبوب: تهيج الأنف، إصابة الضغط، انزياح الأنبوب أو انسداده.
أخطر مضاعفة: الاستنشاق. الرسم المتحرك يوضح المسار الطبيعي (المريء ← المعدة) والمسار الخاطئ (مجرى الهواء ← الرئتين).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Q1 B · Q2 B · Q3 C · Q4 A (shown on the next slide).
Teacher notes:
≈3 min.
شرح عربي:
اختبار سريع للجزء الثالث.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
شرح عربي:
اختبار سريع للجزء الثالث.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Pose the guiding question; the next slide answers it.
شرح عربي:
الجزء الرابع: الفطام — التغذية التكميلية، المبادئ، الأطعمة، الأطعمة الممنوعة، والسلامة أثناء الأكل.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Answer the divider question with the three reasons.
شرح عربي:
الفطام في هذا السياق يعني إدخال الأطعمة التكميلية مع الاستمرار في الرضاعة الطبيعية، ويبدأ عند حوالي ٦ أشهر.
لماذا؟
• حليب الأم وحده لم يعد يوفر جميع الاحتياجات الغذائية.
• يحتاج الرضيع طاقة ومغذيات إضافية.
• يدعم تطور مهارات المضغ والبلع.
يجب الاستمرار في الرضاعة الطبيعية مع التغذية التكميلية.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Use Build mode to reveal one principle at a time.
شرح عربي:
عند إدخال الأطعمة التكميلية:
• البدء عند حوالي ٦ أشهر.
• البدء بكميات صغيرة.
• إدخال الأطعمة تدريجيًا.
• زيادة التنوع والقوام مع نمو الطفل.
• الاستمرار في الرضاعة الطبيعية.
• استخدام أطعمة غنية بالمغذيات.
• تشجيع التغذية التجاوبية.
• الحفاظ على النظافة.
• عدم إجبار الطفل على الأكل.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Ask pairs to build one day of meals from these groups.
شرح عربي:
نقدّم تنوعًا من: الحبوب، الخضروات، الفواكه، البيض، اللحوم والدجاج والسمك، البقوليات، منتجات الألبان المناسبة للعمر، والدهون والزيوت الصحية.
نختار أطعمة غنية بـ: الحديد، البروتين، الطاقة، والفيتامينات والمعادن.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Watch the “no” stamps land, then ask students why each food is on the list.
شرح عربي:
تجنّب:
• العسل قبل ١٢ شهرًا ← خطر التسمم الوشيقي عند الرضّع.
• المكسرات الكاملة ← خطر الاختناق.
• العنب الكامل وغيره من مسببات الاختناق إلا إذا حُضّرت بشكل آمن.
• الأطعمة التي تحتوي على ملح زائد أو سكر مضاف.
• الحليب ومنتجاته غير المبسترة.
• الأطعمة غير الآمنة أو الملوثة.
لا يُستخدم حليب البقر كمشروب رئيسي قبل ١٢ شهرًا.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Compare the two animations: air keeps moving in gagging; food blocks the airway in choking.
شرح عربي:
يجب أن: يجلس الطفل بوضع مستقيم أثناء الأكل، يكون تحت الإشراف، يأكل قوامًا مناسبًا، يُقطّع أو يُهرس طعامه بشكل مناسب، ولا يُترك وحده أبدًا أثناء الأكل.
الاختناق ≠ التهوّع:
• التهوّع (Gagging): عادةً صاخب ووقائي.
• الاختناق (Choking): قد يكون صامتًا مع عدم القدرة على التنفس أو السعال بفعالية.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Q1 C · Q2 B · Q3 B · Q4 D (shown on the next slide).
Teacher notes:
≈3 min.
شرح عربي:
اختبار سريع للجزء الرابع.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
شرح عربي:
اختبار سريع للجزء الرابع.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Each colour links a duty back to its part of the lesson.
شرح عربي:
دور الممرض:
• تقييم الحالة الغذائية والنمو.
• تثقيف الوالدين حول الرضاعة الطبيعية.
• تعليم التحضير الآمن للحليب الصناعي.
• تعليم الرضاعة الآمنة بالزجاجة.
• ضمان سلامة التغذية بالأنبوب.
• مراقبة تحمّل التغذية.
• التعرف على علامات الاستنشاق.
• متابعة الوزن والتطور.
• تثقيف مقدمي الرعاية حول التغذية التكميلية.
• تعزيز النظافة وسلامة الغذاء.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Groups of 4, 2 minutes per case; show the next slide for the answers.
Teacher notes:
≈6–8 min. Groups of 4, 2 minutes per case; one group presents each case before you reveal.
شرح عربي:
حالات سريرية: قسّم الطلاب إلى مجموعات، كل مجموعة تحلل حالة لمدة دقيقتين، ثم اكشف الإجابة.
• الحالة ١: التقام ضعيف.
• الحالة ٢: بودرة زائدة في الحليب الصناعي.
• الحالة ٣: سعال وزرقة أثناء التغذية بالأنبوب ← أوقف التغذية.
• الحالة ٤: عسل وعنب كامل وترك الطفل وحده.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≈6–8 min. Groups of 4, 2 minutes per case; one group presents each case before you reveal.
شرح عربي:
حالات سريرية: قسّم الطلاب إلى مجموعات، كل مجموعة تحلل حالة لمدة دقيقتين، ثم اكشف الإجابة.
• الحالة ١: التقام ضعيف.
• الحالة ٢: بودرة زائدة في الحليب الصناعي.
• الحالة ٣: سعال وزرقة أثناء التغذية بالأنبوب ← أوقف التغذية.
• الحالة ٤: عسل وعنب كامل وترك الطفل وحده.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Return to slide 3 and ask students to explain each card.
شرح عربي:
الخلاصة:
• حليب الأم فقط في أول ٦ أشهر، لا نتخلص من اللبأ، والالتقام الجيد يقلل الألم ويحسّن نقل الحليب.
• نسبة دقيقة للماء والبودرة، وضع شبه قائم، ولا نسند الزجاجة ونترك الطفل وحده.
• لا تغذية بالأنبوب إذا كان موضعه غير مؤكد، وأخطر مضاعفة هي الاستنشاق.
• نبدأ الأطعمة التكميلية عند ٦ أشهر تقريبًا، نستمر بالرضاعة، ولا نترك الطفل وحده أثناء الأكل.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Collect the exit tickets and open the next lesson with the most common question.
شرح عربي:
بطاقة الخروج: يكتب كل طالب معلومة واحدة تعلّمها اليوم، وسؤالًا واحدًا ما زال لديه.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636B"/>
                </a:solidFill>
              </a:rPr>
              <a:t>Infant and Child Feeding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51460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image" Target="../media/image-32-7.png"/><Relationship Id="rId8" Type="http://schemas.openxmlformats.org/officeDocument/2006/relationships/image" Target="../media/image-32-8.png"/><Relationship Id="rId9" Type="http://schemas.openxmlformats.org/officeDocument/2006/relationships/image" Target="../media/image-32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image" Target="../media/image-3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image" Target="../media/image-34-5.png"/><Relationship Id="rId6" Type="http://schemas.openxmlformats.org/officeDocument/2006/relationships/image" Target="../media/image-34-6.png"/><Relationship Id="rId7" Type="http://schemas.openxmlformats.org/officeDocument/2006/relationships/image" Target="../media/image-3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image" Target="../media/image-3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PEDIATRIC NURSING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</a:rPr>
              <a:t>Infant &amp; Child
</a:t>
            </a:r>
            <a:pPr indent="0" marL="0">
              <a:buNone/>
            </a:pPr>
            <a:r>
              <a:rPr lang="en-US" sz="6000" b="1" dirty="0">
                <a:solidFill>
                  <a:schemeClr val="accent5"/>
                </a:solidFill>
              </a:rPr>
              <a:t>Feeding</a:t>
            </a:r>
            <a:endParaRPr lang="en-US" sz="6000" dirty="0"/>
          </a:p>
        </p:txBody>
      </p:sp>
      <p:sp>
        <p:nvSpPr>
          <p:cNvPr id="4" name="Part card"/>
          <p:cNvSpPr/>
          <p:nvPr/>
        </p:nvSpPr>
        <p:spPr>
          <a:xfrm>
            <a:off x="548640" y="3429000"/>
            <a:ext cx="2788920" cy="713232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342900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3429000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Breastfeeding</a:t>
            </a:r>
            <a:endParaRPr lang="en-US" sz="1700" dirty="0"/>
          </a:p>
        </p:txBody>
      </p:sp>
      <p:sp>
        <p:nvSpPr>
          <p:cNvPr id="7" name="Part card"/>
          <p:cNvSpPr/>
          <p:nvPr/>
        </p:nvSpPr>
        <p:spPr>
          <a:xfrm>
            <a:off x="3520440" y="3429000"/>
            <a:ext cx="2788920" cy="713232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703320" y="342900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02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3429000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Artificial Feeding</a:t>
            </a:r>
            <a:endParaRPr lang="en-US" sz="1700" dirty="0"/>
          </a:p>
        </p:txBody>
      </p:sp>
      <p:sp>
        <p:nvSpPr>
          <p:cNvPr id="10" name="Part card"/>
          <p:cNvSpPr/>
          <p:nvPr/>
        </p:nvSpPr>
        <p:spPr>
          <a:xfrm>
            <a:off x="548640" y="4297680"/>
            <a:ext cx="2788920" cy="713232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31520" y="429768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03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297680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NG Tube Feeding</a:t>
            </a:r>
            <a:endParaRPr lang="en-US" sz="1700" dirty="0"/>
          </a:p>
        </p:txBody>
      </p:sp>
      <p:sp>
        <p:nvSpPr>
          <p:cNvPr id="13" name="Part card"/>
          <p:cNvSpPr/>
          <p:nvPr/>
        </p:nvSpPr>
        <p:spPr>
          <a:xfrm>
            <a:off x="3520440" y="4297680"/>
            <a:ext cx="2788920" cy="713232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3703320" y="429768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04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4343400" y="4297680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Weaning</a:t>
            </a:r>
            <a:endParaRPr lang="en-US" sz="1700" dirty="0"/>
          </a:p>
        </p:txBody>
      </p:sp>
      <p:pic>
        <p:nvPicPr>
          <p:cNvPr id="16" name="Illustration hero3d-t" descr="3D models: milk drop, feeding bottle, feeding tube and spo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939536"/>
            <a:ext cx="5486400" cy="488748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LESSON GOALS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By the end of this lesson you can…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737360"/>
            <a:ext cx="53949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868680" y="2194560"/>
            <a:ext cx="822960" cy="82296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6" name="Image 0" descr="dro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3591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196596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Explain exclusive breastfeeding and colostrum, and teach breastfeeding technique.</a:t>
            </a:r>
            <a:endParaRPr lang="en-US" sz="1800" dirty="0"/>
          </a:p>
        </p:txBody>
      </p:sp>
      <p:sp>
        <p:nvSpPr>
          <p:cNvPr id="8" name="Card"/>
          <p:cNvSpPr/>
          <p:nvPr/>
        </p:nvSpPr>
        <p:spPr>
          <a:xfrm>
            <a:off x="6217920" y="1737360"/>
            <a:ext cx="53949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6537960" y="2194560"/>
            <a:ext cx="822960" cy="82296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0" name="Image 1" descr="bottl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552" y="2359152"/>
            <a:ext cx="493776" cy="49377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589520" y="196596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Teach safe formula preparation and bottle-feeding technique.</a:t>
            </a:r>
            <a:endParaRPr lang="en-US" sz="1800" dirty="0"/>
          </a:p>
        </p:txBody>
      </p:sp>
      <p:sp>
        <p:nvSpPr>
          <p:cNvPr id="12" name="Card"/>
          <p:cNvSpPr/>
          <p:nvPr/>
        </p:nvSpPr>
        <p:spPr>
          <a:xfrm>
            <a:off x="548640" y="3749040"/>
            <a:ext cx="53949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3" name="Icon circle"/>
          <p:cNvSpPr/>
          <p:nvPr/>
        </p:nvSpPr>
        <p:spPr>
          <a:xfrm>
            <a:off x="868680" y="4206240"/>
            <a:ext cx="822960" cy="82296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14" name="Image 2" descr="tub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4370832"/>
            <a:ext cx="493776" cy="49377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920240" y="397764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Carry out safe NG tube feeding and recognise its complications.</a:t>
            </a:r>
            <a:endParaRPr lang="en-US" sz="1800" dirty="0"/>
          </a:p>
        </p:txBody>
      </p:sp>
      <p:sp>
        <p:nvSpPr>
          <p:cNvPr id="16" name="Card"/>
          <p:cNvSpPr/>
          <p:nvPr/>
        </p:nvSpPr>
        <p:spPr>
          <a:xfrm>
            <a:off x="6217920" y="3749040"/>
            <a:ext cx="53949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7" name="Icon circle"/>
          <p:cNvSpPr/>
          <p:nvPr/>
        </p:nvSpPr>
        <p:spPr>
          <a:xfrm>
            <a:off x="6537960" y="4206240"/>
            <a:ext cx="822960" cy="8229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8" name="Image 3" descr="spoon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552" y="4370832"/>
            <a:ext cx="493776" cy="49377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589520" y="397764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Guide parents through weaning and complementary feeding.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WARM-UP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Myth or fact? Vote first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0136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baby under 6 months needs water or juice.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2004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B636B"/>
                </a:solidFill>
              </a:rPr>
              <a:t>Myth or fact?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80136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The thick yellow first milk should be thrown away.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32004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B636B"/>
                </a:solidFill>
              </a:rPr>
              <a:t>Myth or fact?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80136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Most newborns breastfeed 8–12 times in 24 hours.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32004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B636B"/>
                </a:solidFill>
              </a:rPr>
              <a:t>Myth or fact?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17880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Crying is the first sign that a baby is hungry.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5778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B636B"/>
                </a:solidFill>
              </a:rPr>
              <a:t>Myth or fact?</a:t>
            </a:r>
            <a:endParaRPr lang="en-US" sz="1300" dirty="0"/>
          </a:p>
        </p:txBody>
      </p:sp>
      <p:sp>
        <p:nvSpPr>
          <p:cNvPr id="16" name="Card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526280" y="417880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Formula left in the bottle after a feed is thrown away.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526280" y="55778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B636B"/>
                </a:solidFill>
              </a:rPr>
              <a:t>Myth or fact?</a:t>
            </a:r>
            <a:endParaRPr lang="en-US" sz="1300" dirty="0"/>
          </a:p>
        </p:txBody>
      </p:sp>
      <p:sp>
        <p:nvSpPr>
          <p:cNvPr id="19" name="Card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275320" y="417880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Gagging during weaning is usually noisy and protective.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55778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B636B"/>
                </a:solidFill>
              </a:rPr>
              <a:t>Myth or fact?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WARM-UP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Myth or fact? The answers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BF2A2A">
              <a:alpha val="10000"/>
            </a:srgbClr>
          </a:solidFill>
          <a:ln w="15875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0136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baby under 6 months needs water or juice.</a:t>
            </a:r>
            <a:endParaRPr lang="en-US" sz="1700" dirty="0"/>
          </a:p>
        </p:txBody>
      </p:sp>
      <p:sp>
        <p:nvSpPr>
          <p:cNvPr id="6" name="Pill"/>
          <p:cNvSpPr/>
          <p:nvPr/>
        </p:nvSpPr>
        <p:spPr>
          <a:xfrm>
            <a:off x="777240" y="274320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BF2A2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74320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MYTH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3639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With exclusive breastfeeding, no water, juice or other foods are routinely needed.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BF2A2A">
              <a:alpha val="10000"/>
            </a:srgbClr>
          </a:solidFill>
          <a:ln w="15875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26280" y="180136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The thick yellow first milk should be thrown away.</a:t>
            </a:r>
            <a:endParaRPr lang="en-US" sz="1700" dirty="0"/>
          </a:p>
        </p:txBody>
      </p:sp>
      <p:sp>
        <p:nvSpPr>
          <p:cNvPr id="11" name="Pill"/>
          <p:cNvSpPr/>
          <p:nvPr/>
        </p:nvSpPr>
        <p:spPr>
          <a:xfrm>
            <a:off x="4526280" y="274320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BF2A2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26280" y="274320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MYTH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13639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That is colostrum. It should not be discarded.</a:t>
            </a:r>
            <a:endParaRPr lang="en-US" sz="1300" dirty="0"/>
          </a:p>
        </p:txBody>
      </p:sp>
      <p:sp>
        <p:nvSpPr>
          <p:cNvPr id="14" name="Card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1B7A43">
              <a:alpha val="10000"/>
            </a:srgbClr>
          </a:solidFill>
          <a:ln w="15875">
            <a:solidFill>
              <a:srgbClr val="1B7A43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75320" y="180136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Most newborns breastfeed 8–12 times in 24 hours.</a:t>
            </a:r>
            <a:endParaRPr lang="en-US" sz="1700" dirty="0"/>
          </a:p>
        </p:txBody>
      </p:sp>
      <p:sp>
        <p:nvSpPr>
          <p:cNvPr id="16" name="Pill"/>
          <p:cNvSpPr/>
          <p:nvPr/>
        </p:nvSpPr>
        <p:spPr>
          <a:xfrm>
            <a:off x="8275320" y="274320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1B7A4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75320" y="274320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FACT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313639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Feed on demand, according to hunger cues.</a:t>
            </a:r>
            <a:endParaRPr lang="en-US" sz="1300" dirty="0"/>
          </a:p>
        </p:txBody>
      </p:sp>
      <p:sp>
        <p:nvSpPr>
          <p:cNvPr id="19" name="Card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BF2A2A">
              <a:alpha val="10000"/>
            </a:srgbClr>
          </a:solidFill>
          <a:ln w="15875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417880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Crying is the first sign that a baby is hungry.</a:t>
            </a:r>
            <a:endParaRPr lang="en-US" sz="1700" dirty="0"/>
          </a:p>
        </p:txBody>
      </p:sp>
      <p:sp>
        <p:nvSpPr>
          <p:cNvPr id="21" name="Pill"/>
          <p:cNvSpPr/>
          <p:nvPr/>
        </p:nvSpPr>
        <p:spPr>
          <a:xfrm>
            <a:off x="777240" y="51206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BF2A2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" y="512064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MYTH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5138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Crying is a late hunger cue.</a:t>
            </a:r>
            <a:endParaRPr lang="en-US" sz="1300" dirty="0"/>
          </a:p>
        </p:txBody>
      </p:sp>
      <p:sp>
        <p:nvSpPr>
          <p:cNvPr id="24" name="Card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1B7A43">
              <a:alpha val="10000"/>
            </a:srgbClr>
          </a:solidFill>
          <a:ln w="15875">
            <a:solidFill>
              <a:srgbClr val="1B7A43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526280" y="417880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Formula left in the bottle after a feed is thrown away.</a:t>
            </a:r>
            <a:endParaRPr lang="en-US" sz="1700" dirty="0"/>
          </a:p>
        </p:txBody>
      </p:sp>
      <p:sp>
        <p:nvSpPr>
          <p:cNvPr id="26" name="Pill"/>
          <p:cNvSpPr/>
          <p:nvPr/>
        </p:nvSpPr>
        <p:spPr>
          <a:xfrm>
            <a:off x="4526280" y="51206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1B7A4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526280" y="512064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FACT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526280" y="55138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Discard leftover formula after feeding.</a:t>
            </a:r>
            <a:endParaRPr lang="en-US" sz="1300" dirty="0"/>
          </a:p>
        </p:txBody>
      </p:sp>
      <p:sp>
        <p:nvSpPr>
          <p:cNvPr id="29" name="Card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1B7A43">
              <a:alpha val="10000"/>
            </a:srgbClr>
          </a:solidFill>
          <a:ln w="15875">
            <a:solidFill>
              <a:srgbClr val="1B7A43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275320" y="417880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Gagging during weaning is usually noisy and protective.</a:t>
            </a:r>
            <a:endParaRPr lang="en-US" sz="1700" dirty="0"/>
          </a:p>
        </p:txBody>
      </p:sp>
      <p:sp>
        <p:nvSpPr>
          <p:cNvPr id="31" name="Pill"/>
          <p:cNvSpPr/>
          <p:nvPr/>
        </p:nvSpPr>
        <p:spPr>
          <a:xfrm>
            <a:off x="8275320" y="51206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1B7A4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75320" y="512064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FACT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55138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Choking may be silent, with inability to breathe or cough effectively.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9223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1"/>
                </a:solidFill>
              </a:rPr>
              <a:t>PART 1 OF 4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chemeClr val="bg1">
                    <a:alpha val="35000"/>
                  </a:schemeClr>
                </a:solidFill>
              </a:rPr>
              <a:t>01</a:t>
            </a:r>
            <a:endParaRPr lang="en-US" sz="88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25146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Breastfeeding</a:t>
            </a:r>
            <a:endParaRPr lang="en-US" sz="4800" dirty="0"/>
          </a:p>
        </p:txBody>
      </p:sp>
      <p:sp>
        <p:nvSpPr>
          <p:cNvPr id="5" name="Topic chip"/>
          <p:cNvSpPr/>
          <p:nvPr/>
        </p:nvSpPr>
        <p:spPr>
          <a:xfrm>
            <a:off x="640080" y="3977640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9776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Definition</a:t>
            </a:r>
            <a:endParaRPr lang="en-US" sz="1400" dirty="0"/>
          </a:p>
        </p:txBody>
      </p:sp>
      <p:sp>
        <p:nvSpPr>
          <p:cNvPr id="7" name="Topic chip"/>
          <p:cNvSpPr/>
          <p:nvPr/>
        </p:nvSpPr>
        <p:spPr>
          <a:xfrm>
            <a:off x="2057400" y="3977640"/>
            <a:ext cx="1088136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057400" y="3977640"/>
            <a:ext cx="1088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Benefits</a:t>
            </a:r>
            <a:endParaRPr lang="en-US" sz="1400" dirty="0"/>
          </a:p>
        </p:txBody>
      </p:sp>
      <p:sp>
        <p:nvSpPr>
          <p:cNvPr id="9" name="Topic chip"/>
          <p:cNvSpPr/>
          <p:nvPr/>
        </p:nvSpPr>
        <p:spPr>
          <a:xfrm>
            <a:off x="3282696" y="3977640"/>
            <a:ext cx="1184148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82696" y="3977640"/>
            <a:ext cx="11841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Colostrum</a:t>
            </a:r>
            <a:endParaRPr lang="en-US" sz="1400" dirty="0"/>
          </a:p>
        </p:txBody>
      </p:sp>
      <p:sp>
        <p:nvSpPr>
          <p:cNvPr id="11" name="Topic chip"/>
          <p:cNvSpPr/>
          <p:nvPr/>
        </p:nvSpPr>
        <p:spPr>
          <a:xfrm>
            <a:off x="4604004" y="3977640"/>
            <a:ext cx="1184148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04004" y="3977640"/>
            <a:ext cx="11841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Technique</a:t>
            </a:r>
            <a:endParaRPr lang="en-US" sz="1400" dirty="0"/>
          </a:p>
        </p:txBody>
      </p:sp>
      <p:sp>
        <p:nvSpPr>
          <p:cNvPr id="13" name="Topic chip"/>
          <p:cNvSpPr/>
          <p:nvPr/>
        </p:nvSpPr>
        <p:spPr>
          <a:xfrm>
            <a:off x="640080" y="4480560"/>
            <a:ext cx="1952244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480560"/>
            <a:ext cx="19522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Effective feeding</a:t>
            </a:r>
            <a:endParaRPr lang="en-US" sz="1400" dirty="0"/>
          </a:p>
        </p:txBody>
      </p:sp>
      <p:sp>
        <p:nvSpPr>
          <p:cNvPr id="15" name="Topic chip"/>
          <p:cNvSpPr/>
          <p:nvPr/>
        </p:nvSpPr>
        <p:spPr>
          <a:xfrm>
            <a:off x="2729484" y="4480560"/>
            <a:ext cx="2144268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729484" y="4480560"/>
            <a:ext cx="2144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Frequency &amp; burping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52578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1">
                    <a:alpha val="75000"/>
                  </a:schemeClr>
                </a:solidFill>
              </a:rPr>
              <a:t>KEEP THIS QUESTION IN MIND
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Why should colostrum never be discarded?</a:t>
            </a:r>
            <a:endParaRPr lang="en-US" sz="1600" dirty="0"/>
          </a:p>
        </p:txBody>
      </p:sp>
      <p:sp>
        <p:nvSpPr>
          <p:cNvPr id="18" name="Quote rule"/>
          <p:cNvSpPr/>
          <p:nvPr/>
        </p:nvSpPr>
        <p:spPr>
          <a:xfrm>
            <a:off x="658368" y="5285232"/>
            <a:ext cx="0" cy="841248"/>
          </a:xfrm>
          <a:prstGeom prst="line">
            <a:avLst/>
          </a:prstGeom>
          <a:noFill/>
          <a:ln w="31750">
            <a:solidFill>
              <a:schemeClr val="bg1">
                <a:alpha val="60000"/>
              </a:schemeClr>
            </a:solidFill>
            <a:prstDash val="solid"/>
          </a:ln>
        </p:spPr>
      </p:sp>
      <p:pic>
        <p:nvPicPr>
          <p:cNvPr id="19" name="Illustration dv1" descr="Line illustration for Breastfee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376172"/>
            <a:ext cx="4023360" cy="4014216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1 · BREASTFEEDING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is breastfeeding?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Breastfeeding</a:t>
            </a:r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 is feeding an infant with breast milk directly from the mother’s breast.</a:t>
            </a:r>
            <a:endParaRPr lang="en-US" sz="2200" dirty="0"/>
          </a:p>
        </p:txBody>
      </p:sp>
      <p:sp>
        <p:nvSpPr>
          <p:cNvPr id="5" name="Card"/>
          <p:cNvSpPr/>
          <p:nvPr/>
        </p:nvSpPr>
        <p:spPr>
          <a:xfrm>
            <a:off x="548640" y="2286000"/>
            <a:ext cx="5212080" cy="374904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2468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FIRST 6 MONTHS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Exclusive breastfeeding</a:t>
            </a:r>
            <a:endParaRPr lang="en-US" sz="2200" dirty="0"/>
          </a:p>
        </p:txBody>
      </p:sp>
      <p:sp>
        <p:nvSpPr>
          <p:cNvPr id="8" name="Icon circle"/>
          <p:cNvSpPr/>
          <p:nvPr/>
        </p:nvSpPr>
        <p:spPr>
          <a:xfrm>
            <a:off x="822960" y="3291840"/>
            <a:ext cx="777240" cy="77724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9" name="Image 0" descr="dro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3447288"/>
            <a:ext cx="466344" cy="46634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91640" y="329184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B636B"/>
                </a:solidFill>
              </a:rPr>
              <a:t>only</a:t>
            </a:r>
            <a:endParaRPr lang="en-US" sz="1600" dirty="0"/>
          </a:p>
        </p:txBody>
      </p:sp>
      <p:pic>
        <p:nvPicPr>
          <p:cNvPr id="11" name="Image 1" descr="No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3429000"/>
            <a:ext cx="502920" cy="502920"/>
          </a:xfrm>
          <a:prstGeom prst="rect">
            <a:avLst/>
          </a:prstGeom>
        </p:spPr>
      </p:pic>
      <p:sp>
        <p:nvSpPr>
          <p:cNvPr id="12" name="Cross-out"/>
          <p:cNvSpPr/>
          <p:nvPr/>
        </p:nvSpPr>
        <p:spPr>
          <a:xfrm>
            <a:off x="3401568" y="3447288"/>
            <a:ext cx="466344" cy="466344"/>
          </a:xfrm>
          <a:prstGeom prst="line">
            <a:avLst/>
          </a:prstGeom>
          <a:noFill/>
          <a:ln w="31750">
            <a:solidFill>
              <a:srgbClr val="BF2A2A"/>
            </a:solidFill>
            <a:prstDash val="solid"/>
          </a:ln>
        </p:spPr>
      </p:sp>
      <p:pic>
        <p:nvPicPr>
          <p:cNvPr id="13" name="Image 2" descr="No jui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3429000"/>
            <a:ext cx="502920" cy="502920"/>
          </a:xfrm>
          <a:prstGeom prst="rect">
            <a:avLst/>
          </a:prstGeom>
        </p:spPr>
      </p:pic>
      <p:sp>
        <p:nvSpPr>
          <p:cNvPr id="14" name="Cross-out"/>
          <p:cNvSpPr/>
          <p:nvPr/>
        </p:nvSpPr>
        <p:spPr>
          <a:xfrm>
            <a:off x="4087368" y="3447288"/>
            <a:ext cx="466344" cy="466344"/>
          </a:xfrm>
          <a:prstGeom prst="line">
            <a:avLst/>
          </a:prstGeom>
          <a:noFill/>
          <a:ln w="31750">
            <a:solidFill>
              <a:srgbClr val="BF2A2A"/>
            </a:solidFill>
            <a:prstDash val="solid"/>
          </a:ln>
        </p:spPr>
      </p:sp>
      <p:pic>
        <p:nvPicPr>
          <p:cNvPr id="15" name="Image 3" descr="No bow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3429000"/>
            <a:ext cx="502920" cy="502920"/>
          </a:xfrm>
          <a:prstGeom prst="rect">
            <a:avLst/>
          </a:prstGeom>
        </p:spPr>
      </p:pic>
      <p:sp>
        <p:nvSpPr>
          <p:cNvPr id="16" name="Cross-out"/>
          <p:cNvSpPr/>
          <p:nvPr/>
        </p:nvSpPr>
        <p:spPr>
          <a:xfrm>
            <a:off x="4773168" y="3447288"/>
            <a:ext cx="466344" cy="466344"/>
          </a:xfrm>
          <a:prstGeom prst="line">
            <a:avLst/>
          </a:prstGeom>
          <a:noFill/>
          <a:ln w="31750">
            <a:solidFill>
              <a:srgbClr val="BF2A2A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822960" y="4251960"/>
            <a:ext cx="4754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Breast milk is the only food and drink.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Recommended for the first 6 months of life.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water, juice or other foods are routinely needed.</a:t>
            </a:r>
            <a:endParaRPr lang="en-US" sz="1600" dirty="0"/>
          </a:p>
        </p:txBody>
      </p:sp>
      <p:sp>
        <p:nvSpPr>
          <p:cNvPr id="18" name="Arrow"/>
          <p:cNvSpPr/>
          <p:nvPr/>
        </p:nvSpPr>
        <p:spPr>
          <a:xfrm>
            <a:off x="5897880" y="3840480"/>
            <a:ext cx="411480" cy="41148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5715000" y="42976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6 months</a:t>
            </a:r>
            <a:endParaRPr lang="en-US" sz="1100" dirty="0"/>
          </a:p>
        </p:txBody>
      </p:sp>
      <p:sp>
        <p:nvSpPr>
          <p:cNvPr id="20" name="Card"/>
          <p:cNvSpPr/>
          <p:nvPr/>
        </p:nvSpPr>
        <p:spPr>
          <a:xfrm>
            <a:off x="6446520" y="2286000"/>
            <a:ext cx="5212080" cy="374904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6720840" y="2468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AFTER 6 MONTHS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720840" y="2743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Breastfeeding + complementary foods</a:t>
            </a:r>
            <a:endParaRPr lang="en-US" sz="2200" dirty="0"/>
          </a:p>
        </p:txBody>
      </p:sp>
      <p:sp>
        <p:nvSpPr>
          <p:cNvPr id="23" name="Icon circle"/>
          <p:cNvSpPr/>
          <p:nvPr/>
        </p:nvSpPr>
        <p:spPr>
          <a:xfrm>
            <a:off x="6720840" y="3291840"/>
            <a:ext cx="777240" cy="77724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24" name="Image 4" descr="drop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6288" y="3447288"/>
            <a:ext cx="466344" cy="466344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589520" y="329184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B636B"/>
                </a:solidFill>
              </a:rPr>
              <a:t>+</a:t>
            </a:r>
            <a:endParaRPr lang="en-US" sz="2800" dirty="0"/>
          </a:p>
        </p:txBody>
      </p:sp>
      <p:sp>
        <p:nvSpPr>
          <p:cNvPr id="26" name="Icon circle"/>
          <p:cNvSpPr/>
          <p:nvPr/>
        </p:nvSpPr>
        <p:spPr>
          <a:xfrm>
            <a:off x="8092440" y="3291840"/>
            <a:ext cx="777240" cy="77724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27" name="Image 5" descr="bowl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7888" y="3447288"/>
            <a:ext cx="466344" cy="4663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720840" y="42519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Continue breastfeeding.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Start complementary foods.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1 · BREASTFEEDING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Benefits of breastfeeding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852160" cy="4754880"/>
          </a:xfrm>
          <a:prstGeom prst="roundRect">
            <a:avLst>
              <a:gd name="adj" fmla="val 2308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Card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2308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645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FOR THE INFANT</a:t>
            </a:r>
            <a:endParaRPr lang="en-US" sz="1200" dirty="0"/>
          </a:p>
        </p:txBody>
      </p:sp>
      <p:sp>
        <p:nvSpPr>
          <p:cNvPr id="7" name="Icon circle"/>
          <p:cNvSpPr/>
          <p:nvPr/>
        </p:nvSpPr>
        <p:spPr>
          <a:xfrm>
            <a:off x="822960" y="20894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8" name="Image 0" descr="dropStar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80844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2011680"/>
            <a:ext cx="47548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Provides ideal nutrition.</a:t>
            </a:r>
            <a:endParaRPr lang="en-US" sz="1600" dirty="0"/>
          </a:p>
        </p:txBody>
      </p:sp>
      <p:sp>
        <p:nvSpPr>
          <p:cNvPr id="10" name="Icon circle"/>
          <p:cNvSpPr/>
          <p:nvPr/>
        </p:nvSpPr>
        <p:spPr>
          <a:xfrm>
            <a:off x="822960" y="27752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1" name="Image 1" descr="stomach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86664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63040" y="2697480"/>
            <a:ext cx="47548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Easily digested.</a:t>
            </a:r>
            <a:endParaRPr lang="en-US" sz="1600" dirty="0"/>
          </a:p>
        </p:txBody>
      </p:sp>
      <p:sp>
        <p:nvSpPr>
          <p:cNvPr id="13" name="Icon circle"/>
          <p:cNvSpPr/>
          <p:nvPr/>
        </p:nvSpPr>
        <p:spPr>
          <a:xfrm>
            <a:off x="822960" y="34610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4" name="Image 2" descr="antibody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5524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3383280"/>
            <a:ext cx="47548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Contains antibodies and immune factors.</a:t>
            </a:r>
            <a:endParaRPr lang="en-US" sz="1600" dirty="0"/>
          </a:p>
        </p:txBody>
      </p:sp>
      <p:sp>
        <p:nvSpPr>
          <p:cNvPr id="16" name="Icon circle"/>
          <p:cNvSpPr/>
          <p:nvPr/>
        </p:nvSpPr>
        <p:spPr>
          <a:xfrm>
            <a:off x="822960" y="41468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7" name="Image 3" descr="shield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3824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63040" y="4069080"/>
            <a:ext cx="47548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Reduces respiratory and gastrointestinal infections.</a:t>
            </a:r>
            <a:endParaRPr lang="en-US" sz="1600" dirty="0"/>
          </a:p>
        </p:txBody>
      </p:sp>
      <p:sp>
        <p:nvSpPr>
          <p:cNvPr id="19" name="Icon circle"/>
          <p:cNvSpPr/>
          <p:nvPr/>
        </p:nvSpPr>
        <p:spPr>
          <a:xfrm>
            <a:off x="822960" y="48326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20" name="Image 4" descr="growth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924044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463040" y="4754880"/>
            <a:ext cx="47548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Supports normal growth and development.</a:t>
            </a:r>
            <a:endParaRPr lang="en-US" sz="1600" dirty="0"/>
          </a:p>
        </p:txBody>
      </p:sp>
      <p:sp>
        <p:nvSpPr>
          <p:cNvPr id="22" name="Icon circle"/>
          <p:cNvSpPr/>
          <p:nvPr/>
        </p:nvSpPr>
        <p:spPr>
          <a:xfrm>
            <a:off x="822960" y="55184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23" name="Image 5" descr="scale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5609844"/>
            <a:ext cx="274320" cy="27432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463040" y="5440680"/>
            <a:ext cx="47548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Reduces risk of childhood overweight and obesity.</a:t>
            </a:r>
            <a:endParaRPr lang="en-US" sz="1600" dirty="0"/>
          </a:p>
        </p:txBody>
      </p:sp>
      <p:sp>
        <p:nvSpPr>
          <p:cNvPr id="25" name="Text 17"/>
          <p:cNvSpPr txBox="1"/>
          <p:nvPr/>
        </p:nvSpPr>
        <p:spPr>
          <a:xfrm>
            <a:off x="6949440" y="1645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FOR THE MOTHER</a:t>
            </a:r>
            <a:endParaRPr lang="en-US" sz="1200" dirty="0"/>
          </a:p>
        </p:txBody>
      </p:sp>
      <p:sp>
        <p:nvSpPr>
          <p:cNvPr id="26" name="Icon circle"/>
          <p:cNvSpPr/>
          <p:nvPr/>
        </p:nvSpPr>
        <p:spPr>
          <a:xfrm>
            <a:off x="6949440" y="20894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27" name="Image 6" descr="contract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0" y="2180844"/>
            <a:ext cx="274320" cy="2743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7589520" y="2011680"/>
            <a:ext cx="38862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Helps uterine contraction after delivery.</a:t>
            </a:r>
            <a:endParaRPr lang="en-US" sz="1600" dirty="0"/>
          </a:p>
        </p:txBody>
      </p:sp>
      <p:sp>
        <p:nvSpPr>
          <p:cNvPr id="29" name="Icon circle"/>
          <p:cNvSpPr/>
          <p:nvPr/>
        </p:nvSpPr>
        <p:spPr>
          <a:xfrm>
            <a:off x="6949440" y="27752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30" name="Image 7" descr="dropDown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0880" y="2866644"/>
            <a:ext cx="274320" cy="27432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7589520" y="2697480"/>
            <a:ext cx="38862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May reduce postpartum bleeding.</a:t>
            </a:r>
            <a:endParaRPr lang="en-US" sz="1600" dirty="0"/>
          </a:p>
        </p:txBody>
      </p:sp>
      <p:sp>
        <p:nvSpPr>
          <p:cNvPr id="32" name="Icon circle"/>
          <p:cNvSpPr/>
          <p:nvPr/>
        </p:nvSpPr>
        <p:spPr>
          <a:xfrm>
            <a:off x="6949440" y="34610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33" name="Image 8" descr="heart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40880" y="3552444"/>
            <a:ext cx="274320" cy="27432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7589520" y="3383280"/>
            <a:ext cx="38862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Promotes mother–infant bonding.</a:t>
            </a:r>
            <a:endParaRPr lang="en-US" sz="1600" dirty="0"/>
          </a:p>
        </p:txBody>
      </p:sp>
      <p:sp>
        <p:nvSpPr>
          <p:cNvPr id="35" name="Icon circle"/>
          <p:cNvSpPr/>
          <p:nvPr/>
        </p:nvSpPr>
        <p:spPr>
          <a:xfrm>
            <a:off x="6949440" y="41468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36" name="Image 9" descr="coin ic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40880" y="4238244"/>
            <a:ext cx="274320" cy="27432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7589520" y="4069080"/>
            <a:ext cx="38862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Convenient and economical.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1 · BREASTFEEDING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Colostrum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Colostrum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 is the thick, yellowish milk produced during the first few days after birth.</a:t>
            </a:r>
            <a:endParaRPr lang="en-US" sz="2000" dirty="0"/>
          </a:p>
        </p:txBody>
      </p:sp>
      <p:sp>
        <p:nvSpPr>
          <p:cNvPr id="5" name="Icon circle"/>
          <p:cNvSpPr/>
          <p:nvPr/>
        </p:nvSpPr>
        <p:spPr>
          <a:xfrm>
            <a:off x="548640" y="236372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6" name="Image 0" descr="antibody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45516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88720" y="2331720"/>
            <a:ext cx="5486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Rich in antibodies, especially IgA.</a:t>
            </a:r>
            <a:endParaRPr lang="en-US" sz="1600" dirty="0"/>
          </a:p>
        </p:txBody>
      </p:sp>
      <p:sp>
        <p:nvSpPr>
          <p:cNvPr id="8" name="Icon circle"/>
          <p:cNvSpPr/>
          <p:nvPr/>
        </p:nvSpPr>
        <p:spPr>
          <a:xfrm>
            <a:off x="548640" y="295808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9" name="Image 1" descr="microb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049524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2926080"/>
            <a:ext cx="5486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Rich in proteins and immune cells.</a:t>
            </a:r>
            <a:endParaRPr lang="en-US" sz="1600" dirty="0"/>
          </a:p>
        </p:txBody>
      </p:sp>
      <p:sp>
        <p:nvSpPr>
          <p:cNvPr id="11" name="Icon circle"/>
          <p:cNvSpPr/>
          <p:nvPr/>
        </p:nvSpPr>
        <p:spPr>
          <a:xfrm>
            <a:off x="548640" y="355244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2" name="Image 2" descr="stomach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43884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3520440"/>
            <a:ext cx="5486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Easy to digest.</a:t>
            </a:r>
            <a:endParaRPr lang="en-US" sz="1600" dirty="0"/>
          </a:p>
        </p:txBody>
      </p:sp>
      <p:sp>
        <p:nvSpPr>
          <p:cNvPr id="14" name="Icon circle"/>
          <p:cNvSpPr/>
          <p:nvPr/>
        </p:nvSpPr>
        <p:spPr>
          <a:xfrm>
            <a:off x="548640" y="41468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5" name="Image 3" descr="shield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238244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88720" y="4114800"/>
            <a:ext cx="5486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Provides protection against infection.</a:t>
            </a:r>
            <a:endParaRPr lang="en-US" sz="1600" dirty="0"/>
          </a:p>
        </p:txBody>
      </p:sp>
      <p:sp>
        <p:nvSpPr>
          <p:cNvPr id="17" name="Icon circle"/>
          <p:cNvSpPr/>
          <p:nvPr/>
        </p:nvSpPr>
        <p:spPr>
          <a:xfrm>
            <a:off x="548640" y="474116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8" name="Image 4" descr="gut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832604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188720" y="4709160"/>
            <a:ext cx="5486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Helps establish the infant’s gastrointestinal tract.</a:t>
            </a:r>
            <a:endParaRPr lang="en-US" sz="1600" dirty="0"/>
          </a:p>
        </p:txBody>
      </p:sp>
      <p:sp>
        <p:nvSpPr>
          <p:cNvPr id="20" name="Card"/>
          <p:cNvSpPr/>
          <p:nvPr/>
        </p:nvSpPr>
        <p:spPr>
          <a:xfrm>
            <a:off x="548640" y="5440680"/>
            <a:ext cx="6126480" cy="731520"/>
          </a:xfrm>
          <a:prstGeom prst="roundRect">
            <a:avLst>
              <a:gd name="adj" fmla="val 15000"/>
            </a:avLst>
          </a:prstGeom>
          <a:solidFill>
            <a:srgbClr val="BF2A2A">
              <a:alpha val="10000"/>
            </a:srgbClr>
          </a:solidFill>
          <a:ln w="12700">
            <a:solidFill>
              <a:srgbClr val="BF2A2A"/>
            </a:solidFill>
            <a:prstDash val="solid"/>
          </a:ln>
        </p:spPr>
      </p:sp>
      <p:pic>
        <p:nvPicPr>
          <p:cNvPr id="21" name="Image 5" descr="Do no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577840"/>
            <a:ext cx="457200" cy="4572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417320" y="54406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F2A2A"/>
                </a:solidFill>
              </a:rPr>
              <a:t>IMPORTANT 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Colostrum should not be discarded.</a:t>
            </a:r>
            <a:endParaRPr lang="en-US" sz="1800" dirty="0"/>
          </a:p>
        </p:txBody>
      </p:sp>
      <p:pic>
        <p:nvPicPr>
          <p:cNvPr id="23" name="Illustration colostrum" descr="Golden drop of colostrum labelled IgA, surrounded by antibodi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65624" y="1371600"/>
            <a:ext cx="4522512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1 · BREASTFEEDING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Breastfeeding technique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B636B"/>
                </a:solidFill>
              </a:rPr>
              <a:t>The nurse should teach the mother:</a:t>
            </a:r>
            <a:endParaRPr lang="en-US" sz="1600" dirty="0"/>
          </a:p>
        </p:txBody>
      </p:sp>
      <p:sp>
        <p:nvSpPr>
          <p:cNvPr id="5" name="Step number"/>
          <p:cNvSpPr/>
          <p:nvPr/>
        </p:nvSpPr>
        <p:spPr>
          <a:xfrm>
            <a:off x="548640" y="1874520"/>
            <a:ext cx="347472" cy="347472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828800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Wash hands.</a:t>
            </a:r>
            <a:endParaRPr lang="en-US" sz="1500" dirty="0"/>
          </a:p>
        </p:txBody>
      </p:sp>
      <p:sp>
        <p:nvSpPr>
          <p:cNvPr id="8" name="Step number"/>
          <p:cNvSpPr/>
          <p:nvPr/>
        </p:nvSpPr>
        <p:spPr>
          <a:xfrm>
            <a:off x="548640" y="2350008"/>
            <a:ext cx="347472" cy="347472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350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304288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Choose a comfortable position.</a:t>
            </a:r>
            <a:endParaRPr lang="en-US" sz="1500" dirty="0"/>
          </a:p>
        </p:txBody>
      </p:sp>
      <p:sp>
        <p:nvSpPr>
          <p:cNvPr id="11" name="Step number"/>
          <p:cNvSpPr/>
          <p:nvPr/>
        </p:nvSpPr>
        <p:spPr>
          <a:xfrm>
            <a:off x="548640" y="2825496"/>
            <a:ext cx="347472" cy="347472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254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779776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Keep the baby’s head and body in a straight line.</a:t>
            </a:r>
            <a:endParaRPr lang="en-US" sz="1500" dirty="0"/>
          </a:p>
        </p:txBody>
      </p:sp>
      <p:sp>
        <p:nvSpPr>
          <p:cNvPr id="14" name="Step number"/>
          <p:cNvSpPr/>
          <p:nvPr/>
        </p:nvSpPr>
        <p:spPr>
          <a:xfrm>
            <a:off x="548640" y="3300984"/>
            <a:ext cx="347472" cy="347472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300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255264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Keep the baby close to the mother.</a:t>
            </a:r>
            <a:endParaRPr lang="en-US" sz="1500" dirty="0"/>
          </a:p>
        </p:txBody>
      </p:sp>
      <p:sp>
        <p:nvSpPr>
          <p:cNvPr id="17" name="Step number"/>
          <p:cNvSpPr/>
          <p:nvPr/>
        </p:nvSpPr>
        <p:spPr>
          <a:xfrm>
            <a:off x="548640" y="3776472"/>
            <a:ext cx="347472" cy="347472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3776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" y="3730752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Baby’s mouth should open widely.</a:t>
            </a:r>
            <a:endParaRPr lang="en-US" sz="1500" dirty="0"/>
          </a:p>
        </p:txBody>
      </p:sp>
      <p:sp>
        <p:nvSpPr>
          <p:cNvPr id="20" name="Step number"/>
          <p:cNvSpPr/>
          <p:nvPr/>
        </p:nvSpPr>
        <p:spPr>
          <a:xfrm>
            <a:off x="548640" y="4251960"/>
            <a:ext cx="347472" cy="347472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42519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4206240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Baby should take the nipple and much of the areola into the mouth.</a:t>
            </a:r>
            <a:endParaRPr lang="en-US" sz="1500" dirty="0"/>
          </a:p>
        </p:txBody>
      </p:sp>
      <p:sp>
        <p:nvSpPr>
          <p:cNvPr id="23" name="Step number"/>
          <p:cNvSpPr/>
          <p:nvPr/>
        </p:nvSpPr>
        <p:spPr>
          <a:xfrm>
            <a:off x="548640" y="4727448"/>
            <a:ext cx="347472" cy="347472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4727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7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" y="4681728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Observe effective sucking and swallowing.</a:t>
            </a:r>
            <a:endParaRPr lang="en-US" sz="1500" dirty="0"/>
          </a:p>
        </p:txBody>
      </p:sp>
      <p:sp>
        <p:nvSpPr>
          <p:cNvPr id="26" name="Step number"/>
          <p:cNvSpPr/>
          <p:nvPr/>
        </p:nvSpPr>
        <p:spPr>
          <a:xfrm>
            <a:off x="548640" y="5202936"/>
            <a:ext cx="347472" cy="347472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52029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8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51560" y="5157216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Allow the baby to finish one breast before offering the other.</a:t>
            </a:r>
            <a:endParaRPr lang="en-US" sz="1500" dirty="0"/>
          </a:p>
        </p:txBody>
      </p:sp>
      <p:pic>
        <p:nvPicPr>
          <p:cNvPr id="29" name="Illustration latch-good" descr="Good latch: nipple and much of the areola in the mou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7746" y="1325880"/>
            <a:ext cx="2061148" cy="2286000"/>
          </a:xfrm>
          <a:prstGeom prst="rect">
            <a:avLst/>
          </a:prstGeom>
        </p:spPr>
      </p:pic>
      <p:pic>
        <p:nvPicPr>
          <p:cNvPr id="30" name="Illustration align-ok" descr="Head and body in a straight l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971" y="3749040"/>
            <a:ext cx="1980418" cy="1280160"/>
          </a:xfrm>
          <a:prstGeom prst="rect">
            <a:avLst/>
          </a:prstGeom>
        </p:spPr>
      </p:pic>
      <p:pic>
        <p:nvPicPr>
          <p:cNvPr id="31" name="Illustration align-bad" descr="Head twisted away from the bod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5162" y="3749040"/>
            <a:ext cx="1969477" cy="1280160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7223760" y="50292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7A43"/>
                </a:solidFill>
              </a:rPr>
              <a:t>Straight line ✓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9555480" y="50292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F2A2A"/>
                </a:solidFill>
              </a:rPr>
              <a:t>Head twisted ✕</a:t>
            </a:r>
            <a:endParaRPr lang="en-US" sz="1300" dirty="0"/>
          </a:p>
        </p:txBody>
      </p:sp>
      <p:sp>
        <p:nvSpPr>
          <p:cNvPr id="34" name="Card"/>
          <p:cNvSpPr/>
          <p:nvPr/>
        </p:nvSpPr>
        <p:spPr>
          <a:xfrm>
            <a:off x="548640" y="5715000"/>
            <a:ext cx="11109960" cy="594360"/>
          </a:xfrm>
          <a:prstGeom prst="roundRect">
            <a:avLst>
              <a:gd name="adj" fmla="val 18462"/>
            </a:avLst>
          </a:prstGeom>
          <a:solidFill>
            <a:srgbClr val="1B7A43">
              <a:alpha val="10000"/>
            </a:srgbClr>
          </a:solidFill>
          <a:ln w="12700">
            <a:solidFill>
              <a:srgbClr val="1B7A43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777240" y="571500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✓  Good latch → less nipple pain + effective milk transfer.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1 · BREASTFEEDING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Signs of effective breastfeeding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760720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THE NURSE SHOULD OBSERVE</a:t>
            </a:r>
            <a:endParaRPr lang="en-US" sz="1200" dirty="0"/>
          </a:p>
        </p:txBody>
      </p:sp>
      <p:pic>
        <p:nvPicPr>
          <p:cNvPr id="6" name="Image 0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214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20116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Baby has a wide-open mouth.</a:t>
            </a:r>
            <a:endParaRPr lang="en-US" sz="1500" dirty="0"/>
          </a:p>
        </p:txBody>
      </p:sp>
      <p:pic>
        <p:nvPicPr>
          <p:cNvPr id="8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706624"/>
            <a:ext cx="329184" cy="32918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2596896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Chin touches the breast.</a:t>
            </a:r>
            <a:endParaRPr lang="en-US" sz="1500" dirty="0"/>
          </a:p>
        </p:txBody>
      </p:sp>
      <p:pic>
        <p:nvPicPr>
          <p:cNvPr id="10" name="Image 2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291840"/>
            <a:ext cx="329184" cy="32918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182112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More areola visible above the baby’s mouth than below.</a:t>
            </a:r>
            <a:endParaRPr lang="en-US" sz="1500" dirty="0"/>
          </a:p>
        </p:txBody>
      </p:sp>
      <p:pic>
        <p:nvPicPr>
          <p:cNvPr id="12" name="Image 3" descr="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877056"/>
            <a:ext cx="329184" cy="32918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325880" y="376732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Slow, deep sucking.</a:t>
            </a:r>
            <a:endParaRPr lang="en-US" sz="1500" dirty="0"/>
          </a:p>
        </p:txBody>
      </p:sp>
      <p:pic>
        <p:nvPicPr>
          <p:cNvPr id="14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462272"/>
            <a:ext cx="329184" cy="329184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325880" y="435254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Audible swallowing.</a:t>
            </a:r>
            <a:endParaRPr lang="en-US" sz="1500" dirty="0"/>
          </a:p>
        </p:txBody>
      </p:sp>
      <p:pic>
        <p:nvPicPr>
          <p:cNvPr id="16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5047488"/>
            <a:ext cx="329184" cy="329184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1325880" y="493776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Baby appears satisfied after feeding.</a:t>
            </a:r>
            <a:endParaRPr lang="en-US" sz="1500" dirty="0"/>
          </a:p>
        </p:txBody>
      </p:sp>
      <p:pic>
        <p:nvPicPr>
          <p:cNvPr id="18" name="Image 6" descr="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5632704"/>
            <a:ext cx="329184" cy="329184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1325880" y="5522976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Adequate urine output and weight gain.</a:t>
            </a:r>
            <a:endParaRPr lang="en-US" sz="1500" dirty="0"/>
          </a:p>
        </p:txBody>
      </p:sp>
      <p:pic>
        <p:nvPicPr>
          <p:cNvPr id="20" name="Illustration latch-good" descr="Good lat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46323" y="1417320"/>
            <a:ext cx="2143593" cy="2377440"/>
          </a:xfrm>
          <a:prstGeom prst="rect">
            <a:avLst/>
          </a:prstGeom>
        </p:spPr>
      </p:pic>
      <p:pic>
        <p:nvPicPr>
          <p:cNvPr id="21" name="Illustration latch-poor" descr="Poor lat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52363" y="1417320"/>
            <a:ext cx="2143593" cy="2377440"/>
          </a:xfrm>
          <a:prstGeom prst="rect">
            <a:avLst/>
          </a:prstGeom>
        </p:spPr>
      </p:pic>
      <p:sp>
        <p:nvSpPr>
          <p:cNvPr id="22" name="Text 11"/>
          <p:cNvSpPr txBox="1"/>
          <p:nvPr/>
        </p:nvSpPr>
        <p:spPr>
          <a:xfrm>
            <a:off x="6583680" y="37947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7A43"/>
                </a:solidFill>
              </a:rPr>
              <a:t>Good latch ✓</a:t>
            </a:r>
            <a:endParaRPr lang="en-US" sz="1500" dirty="0"/>
          </a:p>
        </p:txBody>
      </p:sp>
      <p:sp>
        <p:nvSpPr>
          <p:cNvPr id="23" name="Text 12"/>
          <p:cNvSpPr txBox="1"/>
          <p:nvPr/>
        </p:nvSpPr>
        <p:spPr>
          <a:xfrm>
            <a:off x="9189720" y="37947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F2A2A"/>
                </a:solidFill>
              </a:rPr>
              <a:t>Poor latch ✕</a:t>
            </a:r>
            <a:endParaRPr lang="en-US" sz="1500" dirty="0"/>
          </a:p>
        </p:txBody>
      </p:sp>
      <p:sp>
        <p:nvSpPr>
          <p:cNvPr id="24" name="Text 1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Poor latch may cause</a:t>
            </a:r>
            <a:endParaRPr lang="en-US" sz="1800" dirty="0"/>
          </a:p>
        </p:txBody>
      </p:sp>
      <p:sp>
        <p:nvSpPr>
          <p:cNvPr id="25" name="Pill"/>
          <p:cNvSpPr/>
          <p:nvPr/>
        </p:nvSpPr>
        <p:spPr>
          <a:xfrm>
            <a:off x="6583680" y="4800600"/>
            <a:ext cx="2423160" cy="438912"/>
          </a:xfrm>
          <a:prstGeom prst="roundRect">
            <a:avLst>
              <a:gd name="adj" fmla="val 50000"/>
            </a:avLst>
          </a:prstGeom>
          <a:solidFill>
            <a:srgbClr val="BF2A2A">
              <a:alpha val="10000"/>
            </a:srgbClr>
          </a:solidFill>
          <a:ln w="9525">
            <a:solidFill>
              <a:srgbClr val="BF2A2A">
                <a:alpha val="50000"/>
              </a:srgbClr>
            </a:solidFill>
            <a:prstDash val="solid"/>
          </a:ln>
        </p:spPr>
      </p:sp>
      <p:sp>
        <p:nvSpPr>
          <p:cNvPr id="26" name="Text 15"/>
          <p:cNvSpPr txBox="1"/>
          <p:nvPr/>
        </p:nvSpPr>
        <p:spPr>
          <a:xfrm>
            <a:off x="6583680" y="480060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Nipple pain</a:t>
            </a:r>
            <a:endParaRPr lang="en-US" sz="1300" dirty="0"/>
          </a:p>
        </p:txBody>
      </p:sp>
      <p:sp>
        <p:nvSpPr>
          <p:cNvPr id="27" name="Pill"/>
          <p:cNvSpPr/>
          <p:nvPr/>
        </p:nvSpPr>
        <p:spPr>
          <a:xfrm>
            <a:off x="9144000" y="4800600"/>
            <a:ext cx="2423160" cy="438912"/>
          </a:xfrm>
          <a:prstGeom prst="roundRect">
            <a:avLst>
              <a:gd name="adj" fmla="val 50000"/>
            </a:avLst>
          </a:prstGeom>
          <a:solidFill>
            <a:srgbClr val="BF2A2A">
              <a:alpha val="10000"/>
            </a:srgbClr>
          </a:solidFill>
          <a:ln w="9525">
            <a:solidFill>
              <a:srgbClr val="BF2A2A">
                <a:alpha val="50000"/>
              </a:srgbClr>
            </a:solidFill>
            <a:prstDash val="solid"/>
          </a:ln>
        </p:spPr>
      </p:sp>
      <p:sp>
        <p:nvSpPr>
          <p:cNvPr id="28" name="Text 17"/>
          <p:cNvSpPr txBox="1"/>
          <p:nvPr/>
        </p:nvSpPr>
        <p:spPr>
          <a:xfrm>
            <a:off x="9144000" y="480060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Cracked nipples</a:t>
            </a:r>
            <a:endParaRPr lang="en-US" sz="1300" dirty="0"/>
          </a:p>
        </p:txBody>
      </p:sp>
      <p:sp>
        <p:nvSpPr>
          <p:cNvPr id="29" name="Pill"/>
          <p:cNvSpPr/>
          <p:nvPr/>
        </p:nvSpPr>
        <p:spPr>
          <a:xfrm>
            <a:off x="6583680" y="5367528"/>
            <a:ext cx="2423160" cy="438912"/>
          </a:xfrm>
          <a:prstGeom prst="roundRect">
            <a:avLst>
              <a:gd name="adj" fmla="val 50000"/>
            </a:avLst>
          </a:prstGeom>
          <a:solidFill>
            <a:srgbClr val="BF2A2A">
              <a:alpha val="10000"/>
            </a:srgbClr>
          </a:solidFill>
          <a:ln w="9525">
            <a:solidFill>
              <a:srgbClr val="BF2A2A">
                <a:alpha val="50000"/>
              </a:srgbClr>
            </a:solidFill>
            <a:prstDash val="solid"/>
          </a:ln>
        </p:spPr>
      </p:sp>
      <p:sp>
        <p:nvSpPr>
          <p:cNvPr id="30" name="Text 19"/>
          <p:cNvSpPr txBox="1"/>
          <p:nvPr/>
        </p:nvSpPr>
        <p:spPr>
          <a:xfrm>
            <a:off x="6583680" y="5367528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Poor milk transfer</a:t>
            </a:r>
            <a:endParaRPr lang="en-US" sz="1300" dirty="0"/>
          </a:p>
        </p:txBody>
      </p:sp>
      <p:sp>
        <p:nvSpPr>
          <p:cNvPr id="31" name="Pill"/>
          <p:cNvSpPr/>
          <p:nvPr/>
        </p:nvSpPr>
        <p:spPr>
          <a:xfrm>
            <a:off x="9144000" y="5367528"/>
            <a:ext cx="2423160" cy="438912"/>
          </a:xfrm>
          <a:prstGeom prst="roundRect">
            <a:avLst>
              <a:gd name="adj" fmla="val 50000"/>
            </a:avLst>
          </a:prstGeom>
          <a:solidFill>
            <a:srgbClr val="BF2A2A">
              <a:alpha val="10000"/>
            </a:srgbClr>
          </a:solidFill>
          <a:ln w="9525">
            <a:solidFill>
              <a:srgbClr val="BF2A2A">
                <a:alpha val="50000"/>
              </a:srgbClr>
            </a:solidFill>
            <a:prstDash val="solid"/>
          </a:ln>
        </p:spPr>
      </p:sp>
      <p:sp>
        <p:nvSpPr>
          <p:cNvPr id="32" name="Text 21"/>
          <p:cNvSpPr txBox="1"/>
          <p:nvPr/>
        </p:nvSpPr>
        <p:spPr>
          <a:xfrm>
            <a:off x="9144000" y="5367528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Inadequate infant weight gain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1 · BREASTFEEDING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Breastfeeding frequency &amp; burping</a:t>
            </a:r>
            <a:endParaRPr lang="en-US" sz="3600" dirty="0"/>
          </a:p>
        </p:txBody>
      </p:sp>
      <p:pic>
        <p:nvPicPr>
          <p:cNvPr id="4" name="Illustration dial" descr="24-hour clock showing about ten feeds through day and n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6395"/>
            <a:ext cx="2651760" cy="242217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291840" y="1600200"/>
            <a:ext cx="4480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Feed the newborn on demand, according to hunger cues.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Most newborns breastfeed approximately 8–12 times / 24 hours.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Avoid rigid feeding schedules in the early neonatal period.</a:t>
            </a:r>
            <a:endParaRPr lang="en-US" sz="1600" dirty="0"/>
          </a:p>
        </p:txBody>
      </p:sp>
      <p:pic>
        <p:nvPicPr>
          <p:cNvPr id="6" name="Illustration burp" descr="Baby held upright for burp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1650650"/>
            <a:ext cx="1371600" cy="163646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418320" y="155448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After feeding
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Hold the baby upright. Burping may be helpful, especially if the baby swallowed air.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069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Hunger cues</a:t>
            </a:r>
            <a:endParaRPr lang="en-US" sz="1800" dirty="0"/>
          </a:p>
        </p:txBody>
      </p:sp>
      <p:sp>
        <p:nvSpPr>
          <p:cNvPr id="9" name="Card"/>
          <p:cNvSpPr/>
          <p:nvPr/>
        </p:nvSpPr>
        <p:spPr>
          <a:xfrm>
            <a:off x="548640" y="4526280"/>
            <a:ext cx="205740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0" name="Illustration baby1" descr="Baby showing Root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4572000"/>
            <a:ext cx="1097280" cy="10972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57150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Rooting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2788920" y="4526280"/>
            <a:ext cx="205740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3" name="Illustration baby2" descr="Baby showing Hand-to-mout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3835" y="4572000"/>
            <a:ext cx="1087570" cy="10972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2788920" y="57150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Hand-to-mouth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5029200" y="4526280"/>
            <a:ext cx="205740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6" name="Illustration baby3" descr="Baby showing Lip smack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4115" y="4572000"/>
            <a:ext cx="1087570" cy="10972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029200" y="57150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Lip smacking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7269480" y="4526280"/>
            <a:ext cx="205740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9" name="Illustration baby4" descr="Baby showing Restlessnes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4395" y="4572000"/>
            <a:ext cx="1087570" cy="109728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269480" y="57150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Restlessness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9509760" y="452628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BF2A2A">
              <a:alpha val="8000"/>
            </a:srgbClr>
          </a:solidFill>
          <a:ln w="12700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2" name="Illustration baby5" descr="Baby showing Cry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89820" y="4572000"/>
            <a:ext cx="1097280" cy="109728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9509760" y="57150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F2A2A"/>
                </a:solidFill>
              </a:rPr>
              <a:t>Crying  · late cue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1 · BREASTFEEDING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check: breastfeeding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Q1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Exclusive breastfeeding is recommended for…</a:t>
            </a:r>
            <a:endParaRPr lang="en-US" sz="1600" dirty="0"/>
          </a:p>
        </p:txBody>
      </p:sp>
      <p:sp>
        <p:nvSpPr>
          <p:cNvPr id="5" name="Option"/>
          <p:cNvSpPr/>
          <p:nvPr/>
        </p:nvSpPr>
        <p:spPr>
          <a:xfrm>
            <a:off x="54864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first 4 months</a:t>
            </a:r>
            <a:endParaRPr lang="en-US" sz="1400" dirty="0"/>
          </a:p>
        </p:txBody>
      </p:sp>
      <p:sp>
        <p:nvSpPr>
          <p:cNvPr id="7" name="Option"/>
          <p:cNvSpPr/>
          <p:nvPr/>
        </p:nvSpPr>
        <p:spPr>
          <a:xfrm>
            <a:off x="327355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156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first 6 months</a:t>
            </a:r>
            <a:endParaRPr lang="en-US" sz="1400" dirty="0"/>
          </a:p>
        </p:txBody>
      </p:sp>
      <p:sp>
        <p:nvSpPr>
          <p:cNvPr id="9" name="Option"/>
          <p:cNvSpPr/>
          <p:nvPr/>
        </p:nvSpPr>
        <p:spPr>
          <a:xfrm>
            <a:off x="54864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first 12 months</a:t>
            </a:r>
            <a:endParaRPr lang="en-US" sz="1400" dirty="0"/>
          </a:p>
        </p:txBody>
      </p:sp>
      <p:sp>
        <p:nvSpPr>
          <p:cNvPr id="11" name="Option"/>
          <p:cNvSpPr/>
          <p:nvPr/>
        </p:nvSpPr>
        <p:spPr>
          <a:xfrm>
            <a:off x="327355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first 2 weeks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Q2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Which of these is a LATE hunger cue?</a:t>
            </a:r>
            <a:endParaRPr lang="en-US" sz="1600" dirty="0"/>
          </a:p>
        </p:txBody>
      </p:sp>
      <p:sp>
        <p:nvSpPr>
          <p:cNvPr id="14" name="Option"/>
          <p:cNvSpPr/>
          <p:nvPr/>
        </p:nvSpPr>
        <p:spPr>
          <a:xfrm>
            <a:off x="621792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4593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Rooting</a:t>
            </a:r>
            <a:endParaRPr lang="en-US" sz="1400" dirty="0"/>
          </a:p>
        </p:txBody>
      </p:sp>
      <p:sp>
        <p:nvSpPr>
          <p:cNvPr id="16" name="Option"/>
          <p:cNvSpPr/>
          <p:nvPr/>
        </p:nvSpPr>
        <p:spPr>
          <a:xfrm>
            <a:off x="894283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7084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Lip smacking</a:t>
            </a:r>
            <a:endParaRPr lang="en-US" sz="1400" dirty="0"/>
          </a:p>
        </p:txBody>
      </p:sp>
      <p:sp>
        <p:nvSpPr>
          <p:cNvPr id="18" name="Option"/>
          <p:cNvSpPr/>
          <p:nvPr/>
        </p:nvSpPr>
        <p:spPr>
          <a:xfrm>
            <a:off x="621792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4593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Crying</a:t>
            </a:r>
            <a:endParaRPr lang="en-US" sz="1400" dirty="0"/>
          </a:p>
        </p:txBody>
      </p:sp>
      <p:sp>
        <p:nvSpPr>
          <p:cNvPr id="20" name="Option"/>
          <p:cNvSpPr/>
          <p:nvPr/>
        </p:nvSpPr>
        <p:spPr>
          <a:xfrm>
            <a:off x="894283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7084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Hand-to-mouth movements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Q3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Which is a sign of effective breastfeeding?</a:t>
            </a:r>
            <a:endParaRPr lang="en-US" sz="1600" dirty="0"/>
          </a:p>
        </p:txBody>
      </p:sp>
      <p:sp>
        <p:nvSpPr>
          <p:cNvPr id="23" name="Option"/>
          <p:cNvSpPr/>
          <p:nvPr/>
        </p:nvSpPr>
        <p:spPr>
          <a:xfrm>
            <a:off x="54864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More areola visible below the mouth</a:t>
            </a:r>
            <a:endParaRPr lang="en-US" sz="1400" dirty="0"/>
          </a:p>
        </p:txBody>
      </p:sp>
      <p:sp>
        <p:nvSpPr>
          <p:cNvPr id="25" name="Option"/>
          <p:cNvSpPr/>
          <p:nvPr/>
        </p:nvSpPr>
        <p:spPr>
          <a:xfrm>
            <a:off x="327355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0156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Fast, shallow sucking</a:t>
            </a:r>
            <a:endParaRPr lang="en-US" sz="1400" dirty="0"/>
          </a:p>
        </p:txBody>
      </p:sp>
      <p:sp>
        <p:nvSpPr>
          <p:cNvPr id="27" name="Option"/>
          <p:cNvSpPr/>
          <p:nvPr/>
        </p:nvSpPr>
        <p:spPr>
          <a:xfrm>
            <a:off x="54864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Chin touches the breast</a:t>
            </a:r>
            <a:endParaRPr lang="en-US" sz="1400" dirty="0"/>
          </a:p>
        </p:txBody>
      </p:sp>
      <p:sp>
        <p:nvSpPr>
          <p:cNvPr id="29" name="Option"/>
          <p:cNvSpPr/>
          <p:nvPr/>
        </p:nvSpPr>
        <p:spPr>
          <a:xfrm>
            <a:off x="327355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0156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Baby unsettled after feeding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21792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Q4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Colostrum is rich in…</a:t>
            </a:r>
            <a:endParaRPr lang="en-US" sz="1600" dirty="0"/>
          </a:p>
        </p:txBody>
      </p:sp>
      <p:sp>
        <p:nvSpPr>
          <p:cNvPr id="32" name="Option"/>
          <p:cNvSpPr/>
          <p:nvPr/>
        </p:nvSpPr>
        <p:spPr>
          <a:xfrm>
            <a:off x="621792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4593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Fat only</a:t>
            </a:r>
            <a:endParaRPr lang="en-US" sz="1400" dirty="0"/>
          </a:p>
        </p:txBody>
      </p:sp>
      <p:sp>
        <p:nvSpPr>
          <p:cNvPr id="34" name="Option"/>
          <p:cNvSpPr/>
          <p:nvPr/>
        </p:nvSpPr>
        <p:spPr>
          <a:xfrm>
            <a:off x="894283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07084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Antibodies, especially IgA</a:t>
            </a:r>
            <a:endParaRPr lang="en-US" sz="1400" dirty="0"/>
          </a:p>
        </p:txBody>
      </p:sp>
      <p:sp>
        <p:nvSpPr>
          <p:cNvPr id="36" name="Option"/>
          <p:cNvSpPr/>
          <p:nvPr/>
        </p:nvSpPr>
        <p:spPr>
          <a:xfrm>
            <a:off x="621792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34593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Added sugar</a:t>
            </a:r>
            <a:endParaRPr lang="en-US" sz="1400" dirty="0"/>
          </a:p>
        </p:txBody>
      </p:sp>
      <p:sp>
        <p:nvSpPr>
          <p:cNvPr id="38" name="Option"/>
          <p:cNvSpPr/>
          <p:nvPr/>
        </p:nvSpPr>
        <p:spPr>
          <a:xfrm>
            <a:off x="894283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07084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Water only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1 · BREASTFEEDING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check: answers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Q1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Exclusive breastfeeding is recommended for…</a:t>
            </a:r>
            <a:endParaRPr lang="en-US" sz="1600" dirty="0"/>
          </a:p>
        </p:txBody>
      </p:sp>
      <p:sp>
        <p:nvSpPr>
          <p:cNvPr id="5" name="Option"/>
          <p:cNvSpPr/>
          <p:nvPr/>
        </p:nvSpPr>
        <p:spPr>
          <a:xfrm>
            <a:off x="54864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first 4 months</a:t>
            </a:r>
            <a:endParaRPr lang="en-US" sz="1400" dirty="0"/>
          </a:p>
        </p:txBody>
      </p:sp>
      <p:sp>
        <p:nvSpPr>
          <p:cNvPr id="7" name="Option"/>
          <p:cNvSpPr/>
          <p:nvPr/>
        </p:nvSpPr>
        <p:spPr>
          <a:xfrm>
            <a:off x="327355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156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first 6 months</a:t>
            </a:r>
            <a:endParaRPr lang="en-US" sz="1400" dirty="0"/>
          </a:p>
        </p:txBody>
      </p:sp>
      <p:sp>
        <p:nvSpPr>
          <p:cNvPr id="9" name="Option"/>
          <p:cNvSpPr/>
          <p:nvPr/>
        </p:nvSpPr>
        <p:spPr>
          <a:xfrm>
            <a:off x="54864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first 12 months</a:t>
            </a:r>
            <a:endParaRPr lang="en-US" sz="1400" dirty="0"/>
          </a:p>
        </p:txBody>
      </p:sp>
      <p:sp>
        <p:nvSpPr>
          <p:cNvPr id="11" name="Option"/>
          <p:cNvSpPr/>
          <p:nvPr/>
        </p:nvSpPr>
        <p:spPr>
          <a:xfrm>
            <a:off x="327355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first 2 weeks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2278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Recommended for the first 6 months of life.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Q2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Which of these is a LATE hunger cue?</a:t>
            </a:r>
            <a:endParaRPr lang="en-US" sz="1600" dirty="0"/>
          </a:p>
        </p:txBody>
      </p:sp>
      <p:sp>
        <p:nvSpPr>
          <p:cNvPr id="15" name="Option"/>
          <p:cNvSpPr/>
          <p:nvPr/>
        </p:nvSpPr>
        <p:spPr>
          <a:xfrm>
            <a:off x="621792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4593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Rooting</a:t>
            </a:r>
            <a:endParaRPr lang="en-US" sz="1400" dirty="0"/>
          </a:p>
        </p:txBody>
      </p:sp>
      <p:sp>
        <p:nvSpPr>
          <p:cNvPr id="17" name="Option"/>
          <p:cNvSpPr/>
          <p:nvPr/>
        </p:nvSpPr>
        <p:spPr>
          <a:xfrm>
            <a:off x="894283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7084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Lip smacking</a:t>
            </a:r>
            <a:endParaRPr lang="en-US" sz="1400" dirty="0"/>
          </a:p>
        </p:txBody>
      </p:sp>
      <p:sp>
        <p:nvSpPr>
          <p:cNvPr id="19" name="Option"/>
          <p:cNvSpPr/>
          <p:nvPr/>
        </p:nvSpPr>
        <p:spPr>
          <a:xfrm>
            <a:off x="621792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4593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Crying</a:t>
            </a:r>
            <a:endParaRPr lang="en-US" sz="1400" dirty="0"/>
          </a:p>
        </p:txBody>
      </p:sp>
      <p:sp>
        <p:nvSpPr>
          <p:cNvPr id="21" name="Option"/>
          <p:cNvSpPr/>
          <p:nvPr/>
        </p:nvSpPr>
        <p:spPr>
          <a:xfrm>
            <a:off x="894283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07084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Hand-to-mouth movements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2278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Crying is a late hunger cue.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Q3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Which is a sign of effective breastfeeding?</a:t>
            </a:r>
            <a:endParaRPr lang="en-US" sz="1600" dirty="0"/>
          </a:p>
        </p:txBody>
      </p:sp>
      <p:sp>
        <p:nvSpPr>
          <p:cNvPr id="25" name="Option"/>
          <p:cNvSpPr/>
          <p:nvPr/>
        </p:nvSpPr>
        <p:spPr>
          <a:xfrm>
            <a:off x="54864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More areola visible below the mouth</a:t>
            </a:r>
            <a:endParaRPr lang="en-US" sz="1400" dirty="0"/>
          </a:p>
        </p:txBody>
      </p:sp>
      <p:sp>
        <p:nvSpPr>
          <p:cNvPr id="27" name="Option"/>
          <p:cNvSpPr/>
          <p:nvPr/>
        </p:nvSpPr>
        <p:spPr>
          <a:xfrm>
            <a:off x="327355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0156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Fast, shallow sucking</a:t>
            </a:r>
            <a:endParaRPr lang="en-US" sz="1400" dirty="0"/>
          </a:p>
        </p:txBody>
      </p:sp>
      <p:sp>
        <p:nvSpPr>
          <p:cNvPr id="29" name="Option"/>
          <p:cNvSpPr/>
          <p:nvPr/>
        </p:nvSpPr>
        <p:spPr>
          <a:xfrm>
            <a:off x="54864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665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Chin touches the breast</a:t>
            </a:r>
            <a:endParaRPr lang="en-US" sz="1400" dirty="0"/>
          </a:p>
        </p:txBody>
      </p:sp>
      <p:sp>
        <p:nvSpPr>
          <p:cNvPr id="31" name="Option"/>
          <p:cNvSpPr/>
          <p:nvPr/>
        </p:nvSpPr>
        <p:spPr>
          <a:xfrm>
            <a:off x="327355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Baby unsettled after feeding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Chin touches the breast; more areola above the mouth than below.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21792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Q4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Colostrum is rich in…</a:t>
            </a:r>
            <a:endParaRPr lang="en-US" sz="1600" dirty="0"/>
          </a:p>
        </p:txBody>
      </p:sp>
      <p:sp>
        <p:nvSpPr>
          <p:cNvPr id="35" name="Option"/>
          <p:cNvSpPr/>
          <p:nvPr/>
        </p:nvSpPr>
        <p:spPr>
          <a:xfrm>
            <a:off x="621792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4593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Fat only</a:t>
            </a:r>
            <a:endParaRPr lang="en-US" sz="1400" dirty="0"/>
          </a:p>
        </p:txBody>
      </p:sp>
      <p:sp>
        <p:nvSpPr>
          <p:cNvPr id="37" name="Option"/>
          <p:cNvSpPr/>
          <p:nvPr/>
        </p:nvSpPr>
        <p:spPr>
          <a:xfrm>
            <a:off x="894283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07084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Antibodies, especially IgA</a:t>
            </a:r>
            <a:endParaRPr lang="en-US" sz="1400" dirty="0"/>
          </a:p>
        </p:txBody>
      </p:sp>
      <p:sp>
        <p:nvSpPr>
          <p:cNvPr id="39" name="Option"/>
          <p:cNvSpPr/>
          <p:nvPr/>
        </p:nvSpPr>
        <p:spPr>
          <a:xfrm>
            <a:off x="621792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4593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Added sugar</a:t>
            </a:r>
            <a:endParaRPr lang="en-US" sz="1400" dirty="0"/>
          </a:p>
        </p:txBody>
      </p:sp>
      <p:sp>
        <p:nvSpPr>
          <p:cNvPr id="41" name="Option"/>
          <p:cNvSpPr/>
          <p:nvPr/>
        </p:nvSpPr>
        <p:spPr>
          <a:xfrm>
            <a:off x="894283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07084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Water only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217920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Rich in antibodies (especially IgA), proteins and immune cells.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84C8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1"/>
                </a:solidFill>
              </a:rPr>
              <a:t>PART 2 OF 4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chemeClr val="bg1">
                    <a:alpha val="35000"/>
                  </a:schemeClr>
                </a:solidFill>
              </a:rPr>
              <a:t>02</a:t>
            </a:r>
            <a:endParaRPr lang="en-US" sz="88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25146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Artificial Feeding</a:t>
            </a:r>
            <a:endParaRPr lang="en-US" sz="4800" dirty="0"/>
          </a:p>
        </p:txBody>
      </p:sp>
      <p:sp>
        <p:nvSpPr>
          <p:cNvPr id="5" name="Topic chip"/>
          <p:cNvSpPr/>
          <p:nvPr/>
        </p:nvSpPr>
        <p:spPr>
          <a:xfrm>
            <a:off x="640080" y="3977640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9776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Definition</a:t>
            </a:r>
            <a:endParaRPr lang="en-US" sz="1400" dirty="0"/>
          </a:p>
        </p:txBody>
      </p:sp>
      <p:sp>
        <p:nvSpPr>
          <p:cNvPr id="7" name="Topic chip"/>
          <p:cNvSpPr/>
          <p:nvPr/>
        </p:nvSpPr>
        <p:spPr>
          <a:xfrm>
            <a:off x="2057400" y="3977640"/>
            <a:ext cx="1856232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057400" y="3977640"/>
            <a:ext cx="1856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Types of formula</a:t>
            </a:r>
            <a:endParaRPr lang="en-US" sz="1400" dirty="0"/>
          </a:p>
        </p:txBody>
      </p:sp>
      <p:sp>
        <p:nvSpPr>
          <p:cNvPr id="9" name="Topic chip"/>
          <p:cNvSpPr/>
          <p:nvPr/>
        </p:nvSpPr>
        <p:spPr>
          <a:xfrm>
            <a:off x="4050792" y="3977640"/>
            <a:ext cx="1856232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50792" y="3977640"/>
            <a:ext cx="1856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Safe preparation</a:t>
            </a:r>
            <a:endParaRPr lang="en-US" sz="1400" dirty="0"/>
          </a:p>
        </p:txBody>
      </p:sp>
      <p:sp>
        <p:nvSpPr>
          <p:cNvPr id="11" name="Topic chip"/>
          <p:cNvSpPr/>
          <p:nvPr/>
        </p:nvSpPr>
        <p:spPr>
          <a:xfrm>
            <a:off x="640080" y="4480560"/>
            <a:ext cx="1856232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480560"/>
            <a:ext cx="1856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Bottle technique</a:t>
            </a:r>
            <a:endParaRPr lang="en-US" sz="1400" dirty="0"/>
          </a:p>
        </p:txBody>
      </p:sp>
      <p:sp>
        <p:nvSpPr>
          <p:cNvPr id="13" name="Topic chip"/>
          <p:cNvSpPr/>
          <p:nvPr/>
        </p:nvSpPr>
        <p:spPr>
          <a:xfrm>
            <a:off x="2633472" y="4480560"/>
            <a:ext cx="1568196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33472" y="4480560"/>
            <a:ext cx="15681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Complications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2578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1">
                    <a:alpha val="75000"/>
                  </a:schemeClr>
                </a:solidFill>
              </a:rPr>
              <a:t>KEEP THIS QUESTION IN MIND
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What happens if formula is prepared incorrectly?</a:t>
            </a:r>
            <a:endParaRPr lang="en-US" sz="1600" dirty="0"/>
          </a:p>
        </p:txBody>
      </p:sp>
      <p:sp>
        <p:nvSpPr>
          <p:cNvPr id="16" name="Quote rule"/>
          <p:cNvSpPr/>
          <p:nvPr/>
        </p:nvSpPr>
        <p:spPr>
          <a:xfrm>
            <a:off x="658368" y="5285232"/>
            <a:ext cx="0" cy="841248"/>
          </a:xfrm>
          <a:prstGeom prst="line">
            <a:avLst/>
          </a:prstGeom>
          <a:noFill/>
          <a:ln w="31750">
            <a:solidFill>
              <a:schemeClr val="bg1">
                <a:alpha val="60000"/>
              </a:schemeClr>
            </a:solidFill>
            <a:prstDash val="solid"/>
          </a:ln>
        </p:spPr>
      </p:sp>
      <p:pic>
        <p:nvPicPr>
          <p:cNvPr id="17" name="Illustration dv2" descr="Line illustration for Artificial Fee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376172"/>
            <a:ext cx="4023360" cy="4014216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PART 2 · ARTIFICIAL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Artificial feeding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Artificial feeding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 means feeding an infant with infant formula instead of breast milk, either partially or completely.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It may be used when:</a:t>
            </a:r>
            <a:endParaRPr lang="en-US" sz="1800" dirty="0"/>
          </a:p>
        </p:txBody>
      </p:sp>
      <p:sp>
        <p:nvSpPr>
          <p:cNvPr id="6" name="Card"/>
          <p:cNvSpPr/>
          <p:nvPr/>
        </p:nvSpPr>
        <p:spPr>
          <a:xfrm>
            <a:off x="548640" y="288036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7" name="Icon circle"/>
          <p:cNvSpPr/>
          <p:nvPr/>
        </p:nvSpPr>
        <p:spPr>
          <a:xfrm>
            <a:off x="777240" y="306324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8" name="Image 0" descr="ban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2004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77240" y="3840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Breastfeeding is contraindicated.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3346704" y="288036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1" name="Icon circle"/>
          <p:cNvSpPr/>
          <p:nvPr/>
        </p:nvSpPr>
        <p:spPr>
          <a:xfrm>
            <a:off x="3575304" y="306324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2" name="Image 1" descr="dropEmpty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464" y="320040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75304" y="3840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Breast milk is unavailable or insufficient.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6144768" y="288036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373368" y="306324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6" name="Image 2" descr="choic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320040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73368" y="3840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mother chooses formula feeding.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8942832" y="288036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9" name="Icon circle"/>
          <p:cNvSpPr/>
          <p:nvPr/>
        </p:nvSpPr>
        <p:spPr>
          <a:xfrm>
            <a:off x="9171432" y="306324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20" name="Image 3" descr="medical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592" y="3200400"/>
            <a:ext cx="411480" cy="4114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71432" y="3840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Certain medical conditions require alternative feeding.</a:t>
            </a:r>
            <a:endParaRPr lang="en-US" sz="1500" dirty="0"/>
          </a:p>
        </p:txBody>
      </p:sp>
      <p:sp>
        <p:nvSpPr>
          <p:cNvPr id="22" name="Card"/>
          <p:cNvSpPr/>
          <p:nvPr/>
        </p:nvSpPr>
        <p:spPr>
          <a:xfrm>
            <a:off x="548640" y="5166360"/>
            <a:ext cx="11109960" cy="868680"/>
          </a:xfrm>
          <a:prstGeom prst="roundRect">
            <a:avLst>
              <a:gd name="adj" fmla="val 12632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50000"/>
              </a:schemeClr>
            </a:solidFill>
            <a:prstDash val="solid"/>
          </a:ln>
        </p:spPr>
      </p:sp>
      <p:pic>
        <p:nvPicPr>
          <p:cNvPr id="23" name="Image 4" descr="Breast mil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321808"/>
            <a:ext cx="548640" cy="54864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508760" y="5166360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IMPORTANT 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Breast milk is preferred whenever it is safe and available.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PART 2 · ARTIFICIAL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Types of infant formula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3520440" cy="393192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5" name="Illustration tin1" descr="Formula t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9408" y="1600200"/>
            <a:ext cx="1558905" cy="1920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35661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 · Standard cow’s-milk-based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29768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Suitable for most healthy term infants.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4297680" y="1463040"/>
            <a:ext cx="3520440" cy="393192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9" name="Illustration tin2" descr="Formula t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3610" y="1600200"/>
            <a:ext cx="1548581" cy="19202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26280" y="35661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2 · Preterm formula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4526280" y="429768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Designed for premature infants according to medical advice.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8046720" y="1463040"/>
            <a:ext cx="3520440" cy="393192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3" name="Illustration tin3" descr="Formula t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7488" y="1600200"/>
            <a:ext cx="1558905" cy="19202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275320" y="35661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3 · Specialised formulas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8275320" y="429768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 conditions such as: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• Cow’s milk protein allergy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• Certain metabolic disorders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• Malabsorption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548640" y="5623560"/>
            <a:ext cx="11109960" cy="640080"/>
          </a:xfrm>
          <a:prstGeom prst="roundRect">
            <a:avLst>
              <a:gd name="adj" fmla="val 17143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50000"/>
              </a:scheme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77240" y="56235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Formula should be selected according to the infant’s needs and healthcare advice.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PART 2 · ARTIFICIAL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Safe formula preparation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B636B"/>
                </a:solidFill>
              </a:rPr>
              <a:t>The nurse should teach the caregiver: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1783080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31520" y="2011680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7" name="Image 0" descr="soa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39696"/>
            <a:ext cx="384048" cy="384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1856232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Wash hands.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7033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1</a:t>
            </a:r>
            <a:endParaRPr lang="en-US" sz="1100" dirty="0"/>
          </a:p>
        </p:txBody>
      </p:sp>
      <p:sp>
        <p:nvSpPr>
          <p:cNvPr id="10" name="Card"/>
          <p:cNvSpPr/>
          <p:nvPr/>
        </p:nvSpPr>
        <p:spPr>
          <a:xfrm>
            <a:off x="4297680" y="1783080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1" name="Icon circle"/>
          <p:cNvSpPr/>
          <p:nvPr/>
        </p:nvSpPr>
        <p:spPr>
          <a:xfrm>
            <a:off x="4480560" y="2011680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2" name="Image 1" descr="bottl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2139696"/>
            <a:ext cx="384048" cy="38404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03520" y="1856232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Clean feeding equipment.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452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Card"/>
          <p:cNvSpPr/>
          <p:nvPr/>
        </p:nvSpPr>
        <p:spPr>
          <a:xfrm>
            <a:off x="8046720" y="1783080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6" name="Icon circle"/>
          <p:cNvSpPr/>
          <p:nvPr/>
        </p:nvSpPr>
        <p:spPr>
          <a:xfrm>
            <a:off x="8229600" y="2011680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7" name="Image 2" descr="tap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7616" y="2139696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52560" y="1856232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Use safe drinking water.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112014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Card"/>
          <p:cNvSpPr/>
          <p:nvPr/>
        </p:nvSpPr>
        <p:spPr>
          <a:xfrm>
            <a:off x="548640" y="3044952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1" name="Icon circle"/>
          <p:cNvSpPr/>
          <p:nvPr/>
        </p:nvSpPr>
        <p:spPr>
          <a:xfrm>
            <a:off x="731520" y="3273552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22" name="Image 3" descr="label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3401568"/>
            <a:ext cx="384048" cy="38404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54480" y="3118104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Follow the manufacturer’s exact water-to-powder ratio.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3703320" y="3136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4</a:t>
            </a:r>
            <a:endParaRPr lang="en-US" sz="1100" dirty="0"/>
          </a:p>
        </p:txBody>
      </p:sp>
      <p:sp>
        <p:nvSpPr>
          <p:cNvPr id="25" name="Card"/>
          <p:cNvSpPr/>
          <p:nvPr/>
        </p:nvSpPr>
        <p:spPr>
          <a:xfrm>
            <a:off x="4297680" y="3044952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6" name="Icon circle"/>
          <p:cNvSpPr/>
          <p:nvPr/>
        </p:nvSpPr>
        <p:spPr>
          <a:xfrm>
            <a:off x="4480560" y="3273552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27" name="Image 4" descr="scoop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8576" y="3401568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303520" y="3118104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Measure water and formula accurately.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7452360" y="3136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5</a:t>
            </a:r>
            <a:endParaRPr lang="en-US" sz="1100" dirty="0"/>
          </a:p>
        </p:txBody>
      </p:sp>
      <p:sp>
        <p:nvSpPr>
          <p:cNvPr id="30" name="Card"/>
          <p:cNvSpPr/>
          <p:nvPr/>
        </p:nvSpPr>
        <p:spPr>
          <a:xfrm>
            <a:off x="8046720" y="3044952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31" name="Icon circle"/>
          <p:cNvSpPr/>
          <p:nvPr/>
        </p:nvSpPr>
        <p:spPr>
          <a:xfrm>
            <a:off x="8229600" y="3273552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32" name="Image 5" descr="noPlus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7616" y="3401568"/>
            <a:ext cx="384048" cy="384048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52560" y="3118104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not add extra powder.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11201400" y="3136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6</a:t>
            </a:r>
            <a:endParaRPr lang="en-US" sz="1100" dirty="0"/>
          </a:p>
        </p:txBody>
      </p:sp>
      <p:sp>
        <p:nvSpPr>
          <p:cNvPr id="35" name="Card"/>
          <p:cNvSpPr/>
          <p:nvPr/>
        </p:nvSpPr>
        <p:spPr>
          <a:xfrm>
            <a:off x="548640" y="4306824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36" name="Icon circle"/>
          <p:cNvSpPr/>
          <p:nvPr/>
        </p:nvSpPr>
        <p:spPr>
          <a:xfrm>
            <a:off x="731520" y="4535424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37" name="Image 6" descr="noDilute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536" y="4663440"/>
            <a:ext cx="384048" cy="384048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554480" y="4379976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not dilute formula excessively.</a:t>
            </a:r>
            <a:endParaRPr lang="en-US" sz="1500" dirty="0"/>
          </a:p>
        </p:txBody>
      </p:sp>
      <p:sp>
        <p:nvSpPr>
          <p:cNvPr id="39" name="Text 30"/>
          <p:cNvSpPr txBox="1"/>
          <p:nvPr/>
        </p:nvSpPr>
        <p:spPr>
          <a:xfrm>
            <a:off x="3703320" y="4398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7</a:t>
            </a:r>
            <a:endParaRPr lang="en-US" sz="1100" dirty="0"/>
          </a:p>
        </p:txBody>
      </p:sp>
      <p:sp>
        <p:nvSpPr>
          <p:cNvPr id="40" name="Card"/>
          <p:cNvSpPr/>
          <p:nvPr/>
        </p:nvSpPr>
        <p:spPr>
          <a:xfrm>
            <a:off x="4297680" y="4306824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41" name="Icon circle"/>
          <p:cNvSpPr/>
          <p:nvPr/>
        </p:nvSpPr>
        <p:spPr>
          <a:xfrm>
            <a:off x="4480560" y="4535424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42" name="Image 7" descr="fridge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08576" y="4663440"/>
            <a:ext cx="384048" cy="384048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5303520" y="4379976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Prepare feeds safely and store them according to instructions.</a:t>
            </a:r>
            <a:endParaRPr lang="en-US" sz="1500" dirty="0"/>
          </a:p>
        </p:txBody>
      </p:sp>
      <p:sp>
        <p:nvSpPr>
          <p:cNvPr id="44" name="Text 34"/>
          <p:cNvSpPr txBox="1"/>
          <p:nvPr/>
        </p:nvSpPr>
        <p:spPr>
          <a:xfrm>
            <a:off x="7452360" y="4398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8</a:t>
            </a:r>
            <a:endParaRPr lang="en-US" sz="1100" dirty="0"/>
          </a:p>
        </p:txBody>
      </p:sp>
      <p:sp>
        <p:nvSpPr>
          <p:cNvPr id="45" name="Card"/>
          <p:cNvSpPr/>
          <p:nvPr/>
        </p:nvSpPr>
        <p:spPr>
          <a:xfrm>
            <a:off x="8046720" y="4306824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46" name="Icon circle"/>
          <p:cNvSpPr/>
          <p:nvPr/>
        </p:nvSpPr>
        <p:spPr>
          <a:xfrm>
            <a:off x="8229600" y="4535424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47" name="Image 8" descr="bin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57616" y="4663440"/>
            <a:ext cx="384048" cy="384048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9052560" y="4379976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Discard leftover formula after feeding.</a:t>
            </a:r>
            <a:endParaRPr lang="en-US" sz="1500" dirty="0"/>
          </a:p>
        </p:txBody>
      </p:sp>
      <p:sp>
        <p:nvSpPr>
          <p:cNvPr id="49" name="Text 38"/>
          <p:cNvSpPr txBox="1"/>
          <p:nvPr/>
        </p:nvSpPr>
        <p:spPr>
          <a:xfrm>
            <a:off x="11201400" y="4398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9</a:t>
            </a:r>
            <a:endParaRPr lang="en-US" sz="1100" dirty="0"/>
          </a:p>
        </p:txBody>
      </p:sp>
      <p:sp>
        <p:nvSpPr>
          <p:cNvPr id="50" name="Card"/>
          <p:cNvSpPr/>
          <p:nvPr/>
        </p:nvSpPr>
        <p:spPr>
          <a:xfrm>
            <a:off x="548640" y="5669280"/>
            <a:ext cx="11109960" cy="594360"/>
          </a:xfrm>
          <a:prstGeom prst="roundRect">
            <a:avLst>
              <a:gd name="adj" fmla="val 18462"/>
            </a:avLst>
          </a:prstGeom>
          <a:solidFill>
            <a:srgbClr val="BF2A2A">
              <a:alpha val="10000"/>
            </a:srgbClr>
          </a:solidFill>
          <a:ln w="12700">
            <a:solidFill>
              <a:srgbClr val="BF2A2A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777240" y="566928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F2A2A"/>
                </a:solidFill>
              </a:rPr>
              <a:t>Incorrect dilution can cause serious complications.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PART 2 · ARTIFICIAL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Bottle-feeding technique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486400" cy="288036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7A43"/>
                </a:solidFill>
              </a:rPr>
              <a:t>Do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✓  Hold the infant in a semi-upright position.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✓  Support the baby’s head and neck.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✓  Keep the bottle tilted so the nipple remains filled with milk.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✓  Allow the baby to pause during feeding.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✓  Burp the baby when appropriate.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548640" y="4526280"/>
            <a:ext cx="548640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2700">
            <a:solidFill>
              <a:srgbClr val="BF2A2A">
                <a:alpha val="6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46451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BF2A2A"/>
                </a:solidFill>
              </a:rPr>
              <a:t>Never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07492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✕  Force the infant to finish the bottle.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✕  Prop the bottle and leave the infant alone.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✕  Feed an infant while lying completely flat.</a:t>
            </a:r>
            <a:endParaRPr lang="en-US" sz="1500" dirty="0"/>
          </a:p>
        </p:txBody>
      </p:sp>
      <p:pic>
        <p:nvPicPr>
          <p:cNvPr id="10" name="Illustration bottle-ok-t" descr="3D model: correct tilt, nipple filled with mil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2203964"/>
            <a:ext cx="2697480" cy="245007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263640" y="548640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7A43"/>
                </a:solidFill>
              </a:rPr>
              <a:t>Correct tilt: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B7A43"/>
                </a:solidFill>
              </a:rPr>
              <a:t>nipple filled with milk ✓</a:t>
            </a:r>
            <a:endParaRPr lang="en-US" sz="1500" dirty="0"/>
          </a:p>
        </p:txBody>
      </p:sp>
      <p:pic>
        <p:nvPicPr>
          <p:cNvPr id="12" name="Illustration bottle-flat-t" descr="3D model: bottle too flat, air in the nipp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2530715"/>
            <a:ext cx="2697480" cy="179657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006840" y="548640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F2A2A"/>
                </a:solidFill>
              </a:rPr>
              <a:t>Too flat: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BF2A2A"/>
                </a:solidFill>
              </a:rPr>
              <a:t>air in the nipple ✕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PART 2 · ARTIFICIAL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Complications of artificial feeding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50876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777240" y="173736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6" name="Image 0" descr="bottlePlus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74520"/>
            <a:ext cx="411480" cy="411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514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Overfeeding.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46704" y="150876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3575304" y="173736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0" name="Image 1" descr="upflow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464" y="187452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75304" y="2514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Vomiting or regurgitation.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44768" y="150876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3" name="Icon circle"/>
          <p:cNvSpPr/>
          <p:nvPr/>
        </p:nvSpPr>
        <p:spPr>
          <a:xfrm>
            <a:off x="6373368" y="173736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4" name="Image 2" descr="gu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187452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373368" y="2514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Diarrhoea.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8942832" y="150876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7" name="Icon circle"/>
          <p:cNvSpPr/>
          <p:nvPr/>
        </p:nvSpPr>
        <p:spPr>
          <a:xfrm>
            <a:off x="9171432" y="173736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8" name="Image 3" descr="gutBlock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592" y="1874520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171432" y="2514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Constipation.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393192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1" name="Icon circle"/>
          <p:cNvSpPr/>
          <p:nvPr/>
        </p:nvSpPr>
        <p:spPr>
          <a:xfrm>
            <a:off x="777240" y="416052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22" name="Image 4" descr="stomachX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297680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77240" y="4937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Feeding intolerance.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3346704" y="393192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5" name="Icon circle"/>
          <p:cNvSpPr/>
          <p:nvPr/>
        </p:nvSpPr>
        <p:spPr>
          <a:xfrm>
            <a:off x="3575304" y="416052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26" name="Image 5" descr="microbe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2464" y="4297680"/>
            <a:ext cx="411480" cy="4114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575304" y="4937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Infection from contaminated bottles or formula.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44768" y="39319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BF2A2A">
              <a:alpha val="8000"/>
            </a:srgbClr>
          </a:solidFill>
          <a:ln w="12700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9" name="Icon circle"/>
          <p:cNvSpPr/>
          <p:nvPr/>
        </p:nvSpPr>
        <p:spPr>
          <a:xfrm>
            <a:off x="6373368" y="416052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30" name="Image 6" descr="dropAlert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0528" y="4297680"/>
            <a:ext cx="411480" cy="41148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373368" y="4937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Incorrect formula preparation → dehydration or electrolyte disturbances.</a:t>
            </a:r>
            <a:endParaRPr lang="en-US" sz="1500" dirty="0"/>
          </a:p>
        </p:txBody>
      </p:sp>
      <p:sp>
        <p:nvSpPr>
          <p:cNvPr id="32" name="Card"/>
          <p:cNvSpPr/>
          <p:nvPr/>
        </p:nvSpPr>
        <p:spPr>
          <a:xfrm>
            <a:off x="8942832" y="393192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33" name="Icon circle"/>
          <p:cNvSpPr/>
          <p:nvPr/>
        </p:nvSpPr>
        <p:spPr>
          <a:xfrm>
            <a:off x="9171432" y="416052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34" name="Image 7" descr="tooth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08592" y="4297680"/>
            <a:ext cx="411480" cy="411480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9171432" y="4937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Increased risk of dental caries with inappropriate prolonged bottle use.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PART 2 · ARTIFICIAL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check: artificial feeding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Q1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How much powder should be used?</a:t>
            </a:r>
            <a:endParaRPr lang="en-US" sz="1600" dirty="0"/>
          </a:p>
        </p:txBody>
      </p:sp>
      <p:sp>
        <p:nvSpPr>
          <p:cNvPr id="5" name="Option"/>
          <p:cNvSpPr/>
          <p:nvPr/>
        </p:nvSpPr>
        <p:spPr>
          <a:xfrm>
            <a:off x="54864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extra scoop for better growth</a:t>
            </a:r>
            <a:endParaRPr lang="en-US" sz="1400" dirty="0"/>
          </a:p>
        </p:txBody>
      </p:sp>
      <p:sp>
        <p:nvSpPr>
          <p:cNvPr id="7" name="Option"/>
          <p:cNvSpPr/>
          <p:nvPr/>
        </p:nvSpPr>
        <p:spPr>
          <a:xfrm>
            <a:off x="327355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156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manufacturer’s exact ratio</a:t>
            </a:r>
            <a:endParaRPr lang="en-US" sz="1400" dirty="0"/>
          </a:p>
        </p:txBody>
      </p:sp>
      <p:sp>
        <p:nvSpPr>
          <p:cNvPr id="9" name="Option"/>
          <p:cNvSpPr/>
          <p:nvPr/>
        </p:nvSpPr>
        <p:spPr>
          <a:xfrm>
            <a:off x="54864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Less powder, easier to digest</a:t>
            </a:r>
            <a:endParaRPr lang="en-US" sz="1400" dirty="0"/>
          </a:p>
        </p:txBody>
      </p:sp>
      <p:sp>
        <p:nvSpPr>
          <p:cNvPr id="11" name="Option"/>
          <p:cNvSpPr/>
          <p:nvPr/>
        </p:nvSpPr>
        <p:spPr>
          <a:xfrm>
            <a:off x="327355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estimate by eye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Q2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correct position for bottle feeding is…</a:t>
            </a:r>
            <a:endParaRPr lang="en-US" sz="1600" dirty="0"/>
          </a:p>
        </p:txBody>
      </p:sp>
      <p:sp>
        <p:nvSpPr>
          <p:cNvPr id="14" name="Option"/>
          <p:cNvSpPr/>
          <p:nvPr/>
        </p:nvSpPr>
        <p:spPr>
          <a:xfrm>
            <a:off x="621792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4593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Lying completely flat</a:t>
            </a:r>
            <a:endParaRPr lang="en-US" sz="1400" dirty="0"/>
          </a:p>
        </p:txBody>
      </p:sp>
      <p:sp>
        <p:nvSpPr>
          <p:cNvPr id="16" name="Option"/>
          <p:cNvSpPr/>
          <p:nvPr/>
        </p:nvSpPr>
        <p:spPr>
          <a:xfrm>
            <a:off x="894283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7084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Semi-upright, head and neck supported</a:t>
            </a:r>
            <a:endParaRPr lang="en-US" sz="1400" dirty="0"/>
          </a:p>
        </p:txBody>
      </p:sp>
      <p:sp>
        <p:nvSpPr>
          <p:cNvPr id="18" name="Option"/>
          <p:cNvSpPr/>
          <p:nvPr/>
        </p:nvSpPr>
        <p:spPr>
          <a:xfrm>
            <a:off x="621792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4593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 the tummy</a:t>
            </a:r>
            <a:endParaRPr lang="en-US" sz="1400" dirty="0"/>
          </a:p>
        </p:txBody>
      </p:sp>
      <p:sp>
        <p:nvSpPr>
          <p:cNvPr id="20" name="Option"/>
          <p:cNvSpPr/>
          <p:nvPr/>
        </p:nvSpPr>
        <p:spPr>
          <a:xfrm>
            <a:off x="894283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7084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Any position if the bottle is propped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Q3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Formula left in the bottle after a feed should be…</a:t>
            </a:r>
            <a:endParaRPr lang="en-US" sz="1600" dirty="0"/>
          </a:p>
        </p:txBody>
      </p:sp>
      <p:sp>
        <p:nvSpPr>
          <p:cNvPr id="23" name="Option"/>
          <p:cNvSpPr/>
          <p:nvPr/>
        </p:nvSpPr>
        <p:spPr>
          <a:xfrm>
            <a:off x="54864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Saved for the next feed</a:t>
            </a:r>
            <a:endParaRPr lang="en-US" sz="1400" dirty="0"/>
          </a:p>
        </p:txBody>
      </p:sp>
      <p:sp>
        <p:nvSpPr>
          <p:cNvPr id="25" name="Option"/>
          <p:cNvSpPr/>
          <p:nvPr/>
        </p:nvSpPr>
        <p:spPr>
          <a:xfrm>
            <a:off x="327355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0156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Discarded</a:t>
            </a:r>
            <a:endParaRPr lang="en-US" sz="1400" dirty="0"/>
          </a:p>
        </p:txBody>
      </p:sp>
      <p:sp>
        <p:nvSpPr>
          <p:cNvPr id="27" name="Option"/>
          <p:cNvSpPr/>
          <p:nvPr/>
        </p:nvSpPr>
        <p:spPr>
          <a:xfrm>
            <a:off x="54864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Re-warmed</a:t>
            </a:r>
            <a:endParaRPr lang="en-US" sz="1400" dirty="0"/>
          </a:p>
        </p:txBody>
      </p:sp>
      <p:sp>
        <p:nvSpPr>
          <p:cNvPr id="29" name="Option"/>
          <p:cNvSpPr/>
          <p:nvPr/>
        </p:nvSpPr>
        <p:spPr>
          <a:xfrm>
            <a:off x="327355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0156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Mixed with a fresh feed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21792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Q4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Incorrect formula preparation can cause…</a:t>
            </a:r>
            <a:endParaRPr lang="en-US" sz="1600" dirty="0"/>
          </a:p>
        </p:txBody>
      </p:sp>
      <p:sp>
        <p:nvSpPr>
          <p:cNvPr id="32" name="Option"/>
          <p:cNvSpPr/>
          <p:nvPr/>
        </p:nvSpPr>
        <p:spPr>
          <a:xfrm>
            <a:off x="621792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4593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Faster growth</a:t>
            </a:r>
            <a:endParaRPr lang="en-US" sz="1400" dirty="0"/>
          </a:p>
        </p:txBody>
      </p:sp>
      <p:sp>
        <p:nvSpPr>
          <p:cNvPr id="34" name="Option"/>
          <p:cNvSpPr/>
          <p:nvPr/>
        </p:nvSpPr>
        <p:spPr>
          <a:xfrm>
            <a:off x="894283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07084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Dehydration or electrolyte disturbances</a:t>
            </a:r>
            <a:endParaRPr lang="en-US" sz="1400" dirty="0"/>
          </a:p>
        </p:txBody>
      </p:sp>
      <p:sp>
        <p:nvSpPr>
          <p:cNvPr id="36" name="Option"/>
          <p:cNvSpPr/>
          <p:nvPr/>
        </p:nvSpPr>
        <p:spPr>
          <a:xfrm>
            <a:off x="621792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34593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Better sleep</a:t>
            </a:r>
            <a:endParaRPr lang="en-US" sz="1400" dirty="0"/>
          </a:p>
        </p:txBody>
      </p:sp>
      <p:sp>
        <p:nvSpPr>
          <p:cNvPr id="38" name="Option"/>
          <p:cNvSpPr/>
          <p:nvPr/>
        </p:nvSpPr>
        <p:spPr>
          <a:xfrm>
            <a:off x="894283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07084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effect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PART 2 · ARTIFICIAL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check: answers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Q1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How much powder should be used?</a:t>
            </a:r>
            <a:endParaRPr lang="en-US" sz="1600" dirty="0"/>
          </a:p>
        </p:txBody>
      </p:sp>
      <p:sp>
        <p:nvSpPr>
          <p:cNvPr id="5" name="Option"/>
          <p:cNvSpPr/>
          <p:nvPr/>
        </p:nvSpPr>
        <p:spPr>
          <a:xfrm>
            <a:off x="54864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extra scoop for better growth</a:t>
            </a:r>
            <a:endParaRPr lang="en-US" sz="1400" dirty="0"/>
          </a:p>
        </p:txBody>
      </p:sp>
      <p:sp>
        <p:nvSpPr>
          <p:cNvPr id="7" name="Option"/>
          <p:cNvSpPr/>
          <p:nvPr/>
        </p:nvSpPr>
        <p:spPr>
          <a:xfrm>
            <a:off x="327355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156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manufacturer’s exact ratio</a:t>
            </a:r>
            <a:endParaRPr lang="en-US" sz="1400" dirty="0"/>
          </a:p>
        </p:txBody>
      </p:sp>
      <p:sp>
        <p:nvSpPr>
          <p:cNvPr id="9" name="Option"/>
          <p:cNvSpPr/>
          <p:nvPr/>
        </p:nvSpPr>
        <p:spPr>
          <a:xfrm>
            <a:off x="54864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Less powder, easier to digest</a:t>
            </a:r>
            <a:endParaRPr lang="en-US" sz="1400" dirty="0"/>
          </a:p>
        </p:txBody>
      </p:sp>
      <p:sp>
        <p:nvSpPr>
          <p:cNvPr id="11" name="Option"/>
          <p:cNvSpPr/>
          <p:nvPr/>
        </p:nvSpPr>
        <p:spPr>
          <a:xfrm>
            <a:off x="327355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estimate by eye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2278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Follow the manufacturer’s exact water-to-powder ratio.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Q2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correct position for bottle feeding is…</a:t>
            </a:r>
            <a:endParaRPr lang="en-US" sz="1600" dirty="0"/>
          </a:p>
        </p:txBody>
      </p:sp>
      <p:sp>
        <p:nvSpPr>
          <p:cNvPr id="15" name="Option"/>
          <p:cNvSpPr/>
          <p:nvPr/>
        </p:nvSpPr>
        <p:spPr>
          <a:xfrm>
            <a:off x="621792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4593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Lying completely flat</a:t>
            </a:r>
            <a:endParaRPr lang="en-US" sz="1400" dirty="0"/>
          </a:p>
        </p:txBody>
      </p:sp>
      <p:sp>
        <p:nvSpPr>
          <p:cNvPr id="17" name="Option"/>
          <p:cNvSpPr/>
          <p:nvPr/>
        </p:nvSpPr>
        <p:spPr>
          <a:xfrm>
            <a:off x="894283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7084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Semi-upright, head and neck supported</a:t>
            </a:r>
            <a:endParaRPr lang="en-US" sz="1400" dirty="0"/>
          </a:p>
        </p:txBody>
      </p:sp>
      <p:sp>
        <p:nvSpPr>
          <p:cNvPr id="19" name="Option"/>
          <p:cNvSpPr/>
          <p:nvPr/>
        </p:nvSpPr>
        <p:spPr>
          <a:xfrm>
            <a:off x="621792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4593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 the tummy</a:t>
            </a:r>
            <a:endParaRPr lang="en-US" sz="1400" dirty="0"/>
          </a:p>
        </p:txBody>
      </p:sp>
      <p:sp>
        <p:nvSpPr>
          <p:cNvPr id="21" name="Option"/>
          <p:cNvSpPr/>
          <p:nvPr/>
        </p:nvSpPr>
        <p:spPr>
          <a:xfrm>
            <a:off x="894283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07084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Any position if the bottle is propped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2278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Semi-upright; never feed while lying completely flat.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Q3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Formula left in the bottle after a feed should be…</a:t>
            </a:r>
            <a:endParaRPr lang="en-US" sz="1600" dirty="0"/>
          </a:p>
        </p:txBody>
      </p:sp>
      <p:sp>
        <p:nvSpPr>
          <p:cNvPr id="25" name="Option"/>
          <p:cNvSpPr/>
          <p:nvPr/>
        </p:nvSpPr>
        <p:spPr>
          <a:xfrm>
            <a:off x="54864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Saved for the next feed</a:t>
            </a:r>
            <a:endParaRPr lang="en-US" sz="1400" dirty="0"/>
          </a:p>
        </p:txBody>
      </p:sp>
      <p:sp>
        <p:nvSpPr>
          <p:cNvPr id="27" name="Option"/>
          <p:cNvSpPr/>
          <p:nvPr/>
        </p:nvSpPr>
        <p:spPr>
          <a:xfrm>
            <a:off x="327355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0156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Discarded</a:t>
            </a:r>
            <a:endParaRPr lang="en-US" sz="1400" dirty="0"/>
          </a:p>
        </p:txBody>
      </p:sp>
      <p:sp>
        <p:nvSpPr>
          <p:cNvPr id="29" name="Option"/>
          <p:cNvSpPr/>
          <p:nvPr/>
        </p:nvSpPr>
        <p:spPr>
          <a:xfrm>
            <a:off x="54864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665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Re-warmed</a:t>
            </a:r>
            <a:endParaRPr lang="en-US" sz="1400" dirty="0"/>
          </a:p>
        </p:txBody>
      </p:sp>
      <p:sp>
        <p:nvSpPr>
          <p:cNvPr id="31" name="Option"/>
          <p:cNvSpPr/>
          <p:nvPr/>
        </p:nvSpPr>
        <p:spPr>
          <a:xfrm>
            <a:off x="327355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Mixed with a fresh feed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Discard leftover formula after feeding.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21792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Q4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Incorrect formula preparation can cause…</a:t>
            </a:r>
            <a:endParaRPr lang="en-US" sz="1600" dirty="0"/>
          </a:p>
        </p:txBody>
      </p:sp>
      <p:sp>
        <p:nvSpPr>
          <p:cNvPr id="35" name="Option"/>
          <p:cNvSpPr/>
          <p:nvPr/>
        </p:nvSpPr>
        <p:spPr>
          <a:xfrm>
            <a:off x="621792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4593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Faster growth</a:t>
            </a:r>
            <a:endParaRPr lang="en-US" sz="1400" dirty="0"/>
          </a:p>
        </p:txBody>
      </p:sp>
      <p:sp>
        <p:nvSpPr>
          <p:cNvPr id="37" name="Option"/>
          <p:cNvSpPr/>
          <p:nvPr/>
        </p:nvSpPr>
        <p:spPr>
          <a:xfrm>
            <a:off x="894283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07084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Dehydration or electrolyte disturbances</a:t>
            </a:r>
            <a:endParaRPr lang="en-US" sz="1400" dirty="0"/>
          </a:p>
        </p:txBody>
      </p:sp>
      <p:sp>
        <p:nvSpPr>
          <p:cNvPr id="39" name="Option"/>
          <p:cNvSpPr/>
          <p:nvPr/>
        </p:nvSpPr>
        <p:spPr>
          <a:xfrm>
            <a:off x="621792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4593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Better sleep</a:t>
            </a:r>
            <a:endParaRPr lang="en-US" sz="1400" dirty="0"/>
          </a:p>
        </p:txBody>
      </p:sp>
      <p:sp>
        <p:nvSpPr>
          <p:cNvPr id="41" name="Option"/>
          <p:cNvSpPr/>
          <p:nvPr/>
        </p:nvSpPr>
        <p:spPr>
          <a:xfrm>
            <a:off x="894283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07084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effect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217920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Incorrect preparation → dehydration or electrolyte disturbances.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D32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1"/>
                </a:solidFill>
              </a:rPr>
              <a:t>PART 3 OF 4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chemeClr val="bg1">
                    <a:alpha val="35000"/>
                  </a:schemeClr>
                </a:solidFill>
              </a:rPr>
              <a:t>03</a:t>
            </a:r>
            <a:endParaRPr lang="en-US" sz="88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25146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NG Tube Feeding</a:t>
            </a:r>
            <a:endParaRPr lang="en-US" sz="4800" dirty="0"/>
          </a:p>
        </p:txBody>
      </p:sp>
      <p:sp>
        <p:nvSpPr>
          <p:cNvPr id="5" name="Topic chip"/>
          <p:cNvSpPr/>
          <p:nvPr/>
        </p:nvSpPr>
        <p:spPr>
          <a:xfrm>
            <a:off x="640080" y="3977640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9776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Definition</a:t>
            </a:r>
            <a:endParaRPr lang="en-US" sz="1400" dirty="0"/>
          </a:p>
        </p:txBody>
      </p:sp>
      <p:sp>
        <p:nvSpPr>
          <p:cNvPr id="7" name="Topic chip"/>
          <p:cNvSpPr/>
          <p:nvPr/>
        </p:nvSpPr>
        <p:spPr>
          <a:xfrm>
            <a:off x="2057400" y="3977640"/>
            <a:ext cx="1376172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057400" y="3977640"/>
            <a:ext cx="13761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Indications</a:t>
            </a:r>
            <a:endParaRPr lang="en-US" sz="1400" dirty="0"/>
          </a:p>
        </p:txBody>
      </p:sp>
      <p:sp>
        <p:nvSpPr>
          <p:cNvPr id="9" name="Topic chip"/>
          <p:cNvSpPr/>
          <p:nvPr/>
        </p:nvSpPr>
        <p:spPr>
          <a:xfrm>
            <a:off x="3570732" y="3977640"/>
            <a:ext cx="1664208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70732" y="3977640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Before feeding</a:t>
            </a:r>
            <a:endParaRPr lang="en-US" sz="1400" dirty="0"/>
          </a:p>
        </p:txBody>
      </p:sp>
      <p:sp>
        <p:nvSpPr>
          <p:cNvPr id="11" name="Topic chip"/>
          <p:cNvSpPr/>
          <p:nvPr/>
        </p:nvSpPr>
        <p:spPr>
          <a:xfrm>
            <a:off x="5372100" y="3977640"/>
            <a:ext cx="1184148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72100" y="3977640"/>
            <a:ext cx="11841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Procedure</a:t>
            </a:r>
            <a:endParaRPr lang="en-US" sz="1400" dirty="0"/>
          </a:p>
        </p:txBody>
      </p:sp>
      <p:sp>
        <p:nvSpPr>
          <p:cNvPr id="13" name="Topic chip"/>
          <p:cNvSpPr/>
          <p:nvPr/>
        </p:nvSpPr>
        <p:spPr>
          <a:xfrm>
            <a:off x="640080" y="4480560"/>
            <a:ext cx="1568196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480560"/>
            <a:ext cx="15681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Complications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2578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1">
                    <a:alpha val="75000"/>
                  </a:schemeClr>
                </a:solidFill>
              </a:rPr>
              <a:t>KEEP THIS QUESTION IN MIND
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What must be checked before every NG feed?</a:t>
            </a:r>
            <a:endParaRPr lang="en-US" sz="1600" dirty="0"/>
          </a:p>
        </p:txBody>
      </p:sp>
      <p:sp>
        <p:nvSpPr>
          <p:cNvPr id="16" name="Quote rule"/>
          <p:cNvSpPr/>
          <p:nvPr/>
        </p:nvSpPr>
        <p:spPr>
          <a:xfrm>
            <a:off x="658368" y="5285232"/>
            <a:ext cx="0" cy="841248"/>
          </a:xfrm>
          <a:prstGeom prst="line">
            <a:avLst/>
          </a:prstGeom>
          <a:noFill/>
          <a:ln w="31750">
            <a:solidFill>
              <a:schemeClr val="bg1">
                <a:alpha val="60000"/>
              </a:schemeClr>
            </a:solidFill>
            <a:prstDash val="solid"/>
          </a:ln>
        </p:spPr>
      </p:sp>
      <p:pic>
        <p:nvPicPr>
          <p:cNvPr id="17" name="Illustration dv3" descr="Line illustration for NG Tube Fee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458468"/>
            <a:ext cx="4023360" cy="3849624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NG TUBE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NG tube feeding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5852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Nasogastric (NG) feeding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 is the administration of nutrition, fluids or medication through a tube inserted through the nose into the stomach.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It may be used when the infant / child: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08960"/>
            <a:ext cx="5852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Cannot feed safely by mouth.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Has inadequate oral intake.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Has impaired swallowing.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Has certain neurological or medical conditions.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Requires temporary enteral nutrition.</a:t>
            </a:r>
            <a:endParaRPr lang="en-US" sz="1600" dirty="0"/>
          </a:p>
        </p:txBody>
      </p:sp>
      <p:sp>
        <p:nvSpPr>
          <p:cNvPr id="7" name="Card"/>
          <p:cNvSpPr/>
          <p:nvPr/>
        </p:nvSpPr>
        <p:spPr>
          <a:xfrm>
            <a:off x="548640" y="5257800"/>
            <a:ext cx="5852160" cy="960120"/>
          </a:xfrm>
          <a:prstGeom prst="roundRect">
            <a:avLst>
              <a:gd name="adj" fmla="val 11429"/>
            </a:avLst>
          </a:prstGeom>
          <a:solidFill>
            <a:srgbClr val="BF2A2A">
              <a:alpha val="10000"/>
            </a:srgbClr>
          </a:solidFill>
          <a:ln w="12700">
            <a:solidFill>
              <a:srgbClr val="BF2A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5257800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NG feeding requires trained healthcare personnel and appropriate tube-placement verification.</a:t>
            </a:r>
            <a:endParaRPr lang="en-US" sz="1500" dirty="0"/>
          </a:p>
        </p:txBody>
      </p:sp>
      <p:pic>
        <p:nvPicPr>
          <p:cNvPr id="9" name="Illustration ng3d-t" descr="3D model: tube passes from the nose through the oesophagus into the stoma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184" y="1325880"/>
            <a:ext cx="3293072" cy="4937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NG TUBE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Indications for NG feeding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B636B"/>
                </a:solidFill>
              </a:rPr>
              <a:t>NG feeding may be indicated in: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1828800"/>
            <a:ext cx="2103120" cy="30175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77240" y="2011680"/>
            <a:ext cx="731520" cy="73152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7" name="Image 0" descr="baby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157984"/>
            <a:ext cx="438912" cy="4389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28803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Premature or medically unstable infants with inadequate oral feeding.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2798064" y="1828800"/>
            <a:ext cx="2103120" cy="30175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3026664" y="2011680"/>
            <a:ext cx="731520" cy="73152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11" name="Image 1" descr="brain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2157984"/>
            <a:ext cx="438912" cy="4389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999232" y="28803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Neurological disorders affecting swallowing.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5047488" y="1828800"/>
            <a:ext cx="2103120" cy="30175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5276088" y="2011680"/>
            <a:ext cx="731520" cy="73152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15" name="Image 2" descr="zzz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392" y="21579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248656" y="28803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Reduced level of consciousness when enteral feeding is appropriate.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7296912" y="1828800"/>
            <a:ext cx="2103120" cy="30175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7525512" y="2011680"/>
            <a:ext cx="731520" cy="73152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19" name="Image 3" descr="battery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1816" y="2157984"/>
            <a:ext cx="438912" cy="43891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498080" y="28803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Severe weakness or fatigue during oral feeding.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9546336" y="1828800"/>
            <a:ext cx="2103120" cy="30175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2" name="Icon circle"/>
          <p:cNvSpPr/>
          <p:nvPr/>
        </p:nvSpPr>
        <p:spPr>
          <a:xfrm>
            <a:off x="9774936" y="2011680"/>
            <a:ext cx="731520" cy="73152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23" name="Image 4" descr="bowlDown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215798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747504" y="28803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Conditions causing inadequate oral intake.</a:t>
            </a:r>
            <a:endParaRPr lang="en-US" sz="1500" dirty="0"/>
          </a:p>
        </p:txBody>
      </p:sp>
      <p:sp>
        <p:nvSpPr>
          <p:cNvPr id="25" name="Card"/>
          <p:cNvSpPr/>
          <p:nvPr/>
        </p:nvSpPr>
        <p:spPr>
          <a:xfrm>
            <a:off x="548640" y="5166360"/>
            <a:ext cx="11109960" cy="868680"/>
          </a:xfrm>
          <a:prstGeom prst="roundRect">
            <a:avLst>
              <a:gd name="adj" fmla="val 12632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50000"/>
              </a:schemeClr>
            </a:solidFill>
            <a:prstDash val="solid"/>
          </a:ln>
        </p:spPr>
      </p:sp>
      <p:pic>
        <p:nvPicPr>
          <p:cNvPr id="26" name="Image 5" descr="Gu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303520"/>
            <a:ext cx="594360" cy="59436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554480" y="5166360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The gastrointestinal tract should be functional for enteral feeding.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NG TUBE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Before NG feeding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B636B"/>
                </a:solidFill>
              </a:rPr>
              <a:t>The nurse should: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1783080"/>
            <a:ext cx="658368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Checkbox"/>
          <p:cNvSpPr/>
          <p:nvPr/>
        </p:nvSpPr>
        <p:spPr>
          <a:xfrm>
            <a:off x="731520" y="1920240"/>
            <a:ext cx="256032" cy="256032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1783080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Verify the feeding prescription.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548640" y="2404872"/>
            <a:ext cx="658368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9" name="Checkbox"/>
          <p:cNvSpPr/>
          <p:nvPr/>
        </p:nvSpPr>
        <p:spPr>
          <a:xfrm>
            <a:off x="731520" y="2542032"/>
            <a:ext cx="256032" cy="256032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8720" y="2404872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Check the patient’s identity.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548640" y="3026664"/>
            <a:ext cx="658368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Checkbox"/>
          <p:cNvSpPr/>
          <p:nvPr/>
        </p:nvSpPr>
        <p:spPr>
          <a:xfrm>
            <a:off x="731520" y="3163824"/>
            <a:ext cx="256032" cy="256032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88720" y="3026664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Assess the infant’s condition.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548640" y="3648456"/>
            <a:ext cx="658368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5" name="Checkbox"/>
          <p:cNvSpPr/>
          <p:nvPr/>
        </p:nvSpPr>
        <p:spPr>
          <a:xfrm>
            <a:off x="731520" y="3785616"/>
            <a:ext cx="256032" cy="256032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3648456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Check tube position using the approved institutional method.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548640" y="4270248"/>
            <a:ext cx="658368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8" name="Checkbox"/>
          <p:cNvSpPr/>
          <p:nvPr/>
        </p:nvSpPr>
        <p:spPr>
          <a:xfrm>
            <a:off x="731520" y="4407408"/>
            <a:ext cx="256032" cy="256032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88720" y="4270248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Assess abdominal status and feeding tolerance.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4892040"/>
            <a:ext cx="658368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1" name="Checkbox"/>
          <p:cNvSpPr/>
          <p:nvPr/>
        </p:nvSpPr>
        <p:spPr>
          <a:xfrm>
            <a:off x="731520" y="5029200"/>
            <a:ext cx="256032" cy="256032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88720" y="4892040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Check the prescribed formula, amount and rate.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5513832"/>
            <a:ext cx="658368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4" name="Checkbox"/>
          <p:cNvSpPr/>
          <p:nvPr/>
        </p:nvSpPr>
        <p:spPr>
          <a:xfrm>
            <a:off x="731520" y="5650992"/>
            <a:ext cx="256032" cy="256032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88720" y="5513832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Perform hand hygiene.</a:t>
            </a:r>
            <a:endParaRPr lang="en-US" sz="1500" dirty="0"/>
          </a:p>
        </p:txBody>
      </p:sp>
      <p:sp>
        <p:nvSpPr>
          <p:cNvPr id="26" name="Card"/>
          <p:cNvSpPr/>
          <p:nvPr/>
        </p:nvSpPr>
        <p:spPr>
          <a:xfrm>
            <a:off x="7498080" y="178308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BF2A2A">
              <a:alpha val="8000"/>
            </a:srgbClr>
          </a:solidFill>
          <a:ln w="19050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7" name="Image 0" descr="Feeding tu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2194560"/>
            <a:ext cx="1325880" cy="132588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7772400" y="3749040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F2A2A"/>
                </a:solidFill>
              </a:rPr>
              <a:t>Never administer a feed if tube placement is uncertain.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NG TUBE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NG feeding procedure</a:t>
            </a:r>
            <a:endParaRPr lang="en-US" sz="3600" dirty="0"/>
          </a:p>
        </p:txBody>
      </p:sp>
      <p:sp>
        <p:nvSpPr>
          <p:cNvPr id="4" name="Step number"/>
          <p:cNvSpPr/>
          <p:nvPr/>
        </p:nvSpPr>
        <p:spPr>
          <a:xfrm>
            <a:off x="548640" y="149047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4173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Perform hand hygiene.</a:t>
            </a:r>
            <a:endParaRPr lang="en-US" sz="1500" dirty="0"/>
          </a:p>
        </p:txBody>
      </p:sp>
      <p:sp>
        <p:nvSpPr>
          <p:cNvPr id="7" name="Step number"/>
          <p:cNvSpPr/>
          <p:nvPr/>
        </p:nvSpPr>
        <p:spPr>
          <a:xfrm>
            <a:off x="548640" y="213055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0574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Position the infant safely, usually semi-upright.</a:t>
            </a:r>
            <a:endParaRPr lang="en-US" sz="1500" dirty="0"/>
          </a:p>
        </p:txBody>
      </p:sp>
      <p:sp>
        <p:nvSpPr>
          <p:cNvPr id="10" name="Step number"/>
          <p:cNvSpPr/>
          <p:nvPr/>
        </p:nvSpPr>
        <p:spPr>
          <a:xfrm>
            <a:off x="548640" y="277063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7706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6974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Verify NG tube placement according to protocol.</a:t>
            </a:r>
            <a:endParaRPr lang="en-US" sz="1500" dirty="0"/>
          </a:p>
        </p:txBody>
      </p:sp>
      <p:sp>
        <p:nvSpPr>
          <p:cNvPr id="13" name="Step number"/>
          <p:cNvSpPr/>
          <p:nvPr/>
        </p:nvSpPr>
        <p:spPr>
          <a:xfrm>
            <a:off x="548640" y="341071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410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3375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Check the prescribed feed.</a:t>
            </a:r>
            <a:endParaRPr lang="en-US" sz="1500" dirty="0"/>
          </a:p>
        </p:txBody>
      </p:sp>
      <p:sp>
        <p:nvSpPr>
          <p:cNvPr id="16" name="Step number"/>
          <p:cNvSpPr/>
          <p:nvPr/>
        </p:nvSpPr>
        <p:spPr>
          <a:xfrm>
            <a:off x="548640" y="405079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050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977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Administer the feed at the prescribed rate.</a:t>
            </a:r>
            <a:endParaRPr lang="en-US" sz="1500" dirty="0"/>
          </a:p>
        </p:txBody>
      </p:sp>
      <p:sp>
        <p:nvSpPr>
          <p:cNvPr id="19" name="Step number"/>
          <p:cNvSpPr/>
          <p:nvPr/>
        </p:nvSpPr>
        <p:spPr>
          <a:xfrm>
            <a:off x="6217920" y="149047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14173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Observe the infant throughout feeding.</a:t>
            </a:r>
            <a:endParaRPr lang="en-US" sz="1500" dirty="0"/>
          </a:p>
        </p:txBody>
      </p:sp>
      <p:sp>
        <p:nvSpPr>
          <p:cNvPr id="22" name="Step number"/>
          <p:cNvSpPr/>
          <p:nvPr/>
        </p:nvSpPr>
        <p:spPr>
          <a:xfrm>
            <a:off x="6217920" y="213055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20574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Stop feeding if concerning signs occur (see below).</a:t>
            </a:r>
            <a:endParaRPr lang="en-US" sz="1500" dirty="0"/>
          </a:p>
        </p:txBody>
      </p:sp>
      <p:sp>
        <p:nvSpPr>
          <p:cNvPr id="25" name="Step number"/>
          <p:cNvSpPr/>
          <p:nvPr/>
        </p:nvSpPr>
        <p:spPr>
          <a:xfrm>
            <a:off x="6217920" y="277063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0" y="27706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8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766560" y="26974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Flush the tube only according to the prescribed / appropriate protocol.</a:t>
            </a:r>
            <a:endParaRPr lang="en-US" sz="1500" dirty="0"/>
          </a:p>
        </p:txBody>
      </p:sp>
      <p:sp>
        <p:nvSpPr>
          <p:cNvPr id="28" name="Step number"/>
          <p:cNvSpPr/>
          <p:nvPr/>
        </p:nvSpPr>
        <p:spPr>
          <a:xfrm>
            <a:off x="6217920" y="341071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0" y="3410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9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766560" y="33375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Keep the infant appropriately positioned after feeding.</a:t>
            </a:r>
            <a:endParaRPr lang="en-US" sz="1500" dirty="0"/>
          </a:p>
        </p:txBody>
      </p:sp>
      <p:sp>
        <p:nvSpPr>
          <p:cNvPr id="31" name="Step number"/>
          <p:cNvSpPr/>
          <p:nvPr/>
        </p:nvSpPr>
        <p:spPr>
          <a:xfrm>
            <a:off x="6217920" y="405079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17920" y="4050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10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766560" y="3977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Document the feeding and the infant’s response.</a:t>
            </a:r>
            <a:endParaRPr lang="en-US" sz="1500" dirty="0"/>
          </a:p>
        </p:txBody>
      </p:sp>
      <p:sp>
        <p:nvSpPr>
          <p:cNvPr id="34" name="Card"/>
          <p:cNvSpPr/>
          <p:nvPr/>
        </p:nvSpPr>
        <p:spPr>
          <a:xfrm>
            <a:off x="548640" y="4754880"/>
            <a:ext cx="11109960" cy="1508760"/>
          </a:xfrm>
          <a:prstGeom prst="roundRect">
            <a:avLst>
              <a:gd name="adj" fmla="val 7273"/>
            </a:avLst>
          </a:prstGeom>
          <a:solidFill>
            <a:srgbClr val="BF2A2A">
              <a:alpha val="8000"/>
            </a:srgbClr>
          </a:solidFill>
          <a:ln w="19050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35" name="Stop sign"/>
          <p:cNvSpPr/>
          <p:nvPr/>
        </p:nvSpPr>
        <p:spPr>
          <a:xfrm>
            <a:off x="777240" y="4983480"/>
            <a:ext cx="1051560" cy="1051560"/>
          </a:xfrm>
          <a:prstGeom prst="octagon">
            <a:avLst/>
          </a:prstGeom>
          <a:solidFill>
            <a:srgbClr val="BF2A2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49834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STOP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2057400" y="484632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Stop feeding if significant respiratory distress, vomiting, coughing, cyanosis or other concerning signs occur.</a:t>
            </a:r>
            <a:endParaRPr lang="en-US" sz="1600" dirty="0"/>
          </a:p>
        </p:txBody>
      </p:sp>
      <p:pic>
        <p:nvPicPr>
          <p:cNvPr id="38" name="Image 0" descr="Respiratory distr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7400" y="5486400"/>
            <a:ext cx="548640" cy="548640"/>
          </a:xfrm>
          <a:prstGeom prst="rect">
            <a:avLst/>
          </a:prstGeom>
        </p:spPr>
      </p:pic>
      <p:sp>
        <p:nvSpPr>
          <p:cNvPr id="39" name="Text 36"/>
          <p:cNvSpPr txBox="1"/>
          <p:nvPr/>
        </p:nvSpPr>
        <p:spPr>
          <a:xfrm>
            <a:off x="2697480" y="5486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Respiratory distress</a:t>
            </a:r>
            <a:endParaRPr lang="en-US" sz="1400" dirty="0"/>
          </a:p>
        </p:txBody>
      </p:sp>
      <p:pic>
        <p:nvPicPr>
          <p:cNvPr id="40" name="Image 1" descr="Vomit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5486400"/>
            <a:ext cx="548640" cy="548640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5074920" y="5486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Vomiting</a:t>
            </a:r>
            <a:endParaRPr lang="en-US" sz="1400" dirty="0"/>
          </a:p>
        </p:txBody>
      </p:sp>
      <p:pic>
        <p:nvPicPr>
          <p:cNvPr id="42" name="Image 2" descr="Cough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5486400"/>
            <a:ext cx="548640" cy="548640"/>
          </a:xfrm>
          <a:prstGeom prst="rect">
            <a:avLst/>
          </a:prstGeom>
        </p:spPr>
      </p:pic>
      <p:sp>
        <p:nvSpPr>
          <p:cNvPr id="43" name="Text 38"/>
          <p:cNvSpPr txBox="1"/>
          <p:nvPr/>
        </p:nvSpPr>
        <p:spPr>
          <a:xfrm>
            <a:off x="7452360" y="5486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Coughing</a:t>
            </a:r>
            <a:endParaRPr lang="en-US" sz="1400" dirty="0"/>
          </a:p>
        </p:txBody>
      </p:sp>
      <p:pic>
        <p:nvPicPr>
          <p:cNvPr id="44" name="Image 3" descr="Cyanosi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0" y="5486400"/>
            <a:ext cx="548640" cy="548640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9829800" y="5486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Cyanosis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NG TUBE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Complications of NG feeding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508760"/>
            <a:ext cx="630936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777240" y="1801368"/>
            <a:ext cx="777240" cy="77724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6" name="Image 0" descr="lungs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1956816"/>
            <a:ext cx="466344" cy="4663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6733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RESPIRATORY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196596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Aspiration · Coughing · Respiratory distress · Cyanosis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548640" y="3063240"/>
            <a:ext cx="630936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777240" y="3355848"/>
            <a:ext cx="777240" cy="77724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11" name="Image 1" descr="stomach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511296"/>
            <a:ext cx="466344" cy="4663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783080" y="32278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GASTROINTESTINAL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1783080" y="352044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Vomiting · Abdominal distension · Diarrhoea · Constipation · Feeding intolerance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548640" y="4617720"/>
            <a:ext cx="630936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777240" y="4910328"/>
            <a:ext cx="777240" cy="77724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16" name="Image 2" descr="tub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5065776"/>
            <a:ext cx="466344" cy="4663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83080" y="478231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TUBE-RELATED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1783080" y="507492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Nasal irritation · Pressure injury · Tube displacement or blockage</a:t>
            </a:r>
            <a:endParaRPr lang="en-US" sz="1500" dirty="0"/>
          </a:p>
        </p:txBody>
      </p:sp>
      <p:pic>
        <p:nvPicPr>
          <p:cNvPr id="19" name="Illustration aspiration" descr="Feed goes down the oesophagus to the stomach; in aspiration it goes down the airway to the lung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4136" y="1371600"/>
            <a:ext cx="3862647" cy="3749040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7132320" y="5257800"/>
            <a:ext cx="4526280" cy="960120"/>
          </a:xfrm>
          <a:prstGeom prst="roundRect">
            <a:avLst>
              <a:gd name="adj" fmla="val 11429"/>
            </a:avLst>
          </a:prstGeom>
          <a:solidFill>
            <a:srgbClr val="BF2A2A">
              <a:alpha val="10000"/>
            </a:srgbClr>
          </a:solidFill>
          <a:ln w="12700">
            <a:solidFill>
              <a:srgbClr val="BF2A2A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360920" y="525780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F2A2A"/>
                </a:solidFill>
              </a:rPr>
              <a:t>MOST SERIOUS COMPLICATION
</a:t>
            </a:r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Aspiration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NG TUBE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check: NG tube feeding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Q1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Before every NG feed, the nurse must…</a:t>
            </a:r>
            <a:endParaRPr lang="en-US" sz="1600" dirty="0"/>
          </a:p>
        </p:txBody>
      </p:sp>
      <p:sp>
        <p:nvSpPr>
          <p:cNvPr id="5" name="Option"/>
          <p:cNvSpPr/>
          <p:nvPr/>
        </p:nvSpPr>
        <p:spPr>
          <a:xfrm>
            <a:off x="54864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Weigh the infant</a:t>
            </a:r>
            <a:endParaRPr lang="en-US" sz="1400" dirty="0"/>
          </a:p>
        </p:txBody>
      </p:sp>
      <p:sp>
        <p:nvSpPr>
          <p:cNvPr id="7" name="Option"/>
          <p:cNvSpPr/>
          <p:nvPr/>
        </p:nvSpPr>
        <p:spPr>
          <a:xfrm>
            <a:off x="327355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156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Check tube position (approved method)</a:t>
            </a:r>
            <a:endParaRPr lang="en-US" sz="1400" dirty="0"/>
          </a:p>
        </p:txBody>
      </p:sp>
      <p:sp>
        <p:nvSpPr>
          <p:cNvPr id="9" name="Option"/>
          <p:cNvSpPr/>
          <p:nvPr/>
        </p:nvSpPr>
        <p:spPr>
          <a:xfrm>
            <a:off x="54864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Warm the feed</a:t>
            </a:r>
            <a:endParaRPr lang="en-US" sz="1400" dirty="0"/>
          </a:p>
        </p:txBody>
      </p:sp>
      <p:sp>
        <p:nvSpPr>
          <p:cNvPr id="11" name="Option"/>
          <p:cNvSpPr/>
          <p:nvPr/>
        </p:nvSpPr>
        <p:spPr>
          <a:xfrm>
            <a:off x="327355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Change the tape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Q2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infant coughs and becomes cyanosed during a feed. You…</a:t>
            </a:r>
            <a:endParaRPr lang="en-US" sz="1600" dirty="0"/>
          </a:p>
        </p:txBody>
      </p:sp>
      <p:sp>
        <p:nvSpPr>
          <p:cNvPr id="14" name="Option"/>
          <p:cNvSpPr/>
          <p:nvPr/>
        </p:nvSpPr>
        <p:spPr>
          <a:xfrm>
            <a:off x="621792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4593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Speed up to finish</a:t>
            </a:r>
            <a:endParaRPr lang="en-US" sz="1400" dirty="0"/>
          </a:p>
        </p:txBody>
      </p:sp>
      <p:sp>
        <p:nvSpPr>
          <p:cNvPr id="16" name="Option"/>
          <p:cNvSpPr/>
          <p:nvPr/>
        </p:nvSpPr>
        <p:spPr>
          <a:xfrm>
            <a:off x="894283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7084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Stop feeding</a:t>
            </a:r>
            <a:endParaRPr lang="en-US" sz="1400" dirty="0"/>
          </a:p>
        </p:txBody>
      </p:sp>
      <p:sp>
        <p:nvSpPr>
          <p:cNvPr id="18" name="Option"/>
          <p:cNvSpPr/>
          <p:nvPr/>
        </p:nvSpPr>
        <p:spPr>
          <a:xfrm>
            <a:off x="621792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4593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Flush the tube</a:t>
            </a:r>
            <a:endParaRPr lang="en-US" sz="1400" dirty="0"/>
          </a:p>
        </p:txBody>
      </p:sp>
      <p:sp>
        <p:nvSpPr>
          <p:cNvPr id="20" name="Option"/>
          <p:cNvSpPr/>
          <p:nvPr/>
        </p:nvSpPr>
        <p:spPr>
          <a:xfrm>
            <a:off x="894283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7084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Continue and observe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Q3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most serious complication of NG feeding is…</a:t>
            </a:r>
            <a:endParaRPr lang="en-US" sz="1600" dirty="0"/>
          </a:p>
        </p:txBody>
      </p:sp>
      <p:sp>
        <p:nvSpPr>
          <p:cNvPr id="23" name="Option"/>
          <p:cNvSpPr/>
          <p:nvPr/>
        </p:nvSpPr>
        <p:spPr>
          <a:xfrm>
            <a:off x="54864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Nasal irritation</a:t>
            </a:r>
            <a:endParaRPr lang="en-US" sz="1400" dirty="0"/>
          </a:p>
        </p:txBody>
      </p:sp>
      <p:sp>
        <p:nvSpPr>
          <p:cNvPr id="25" name="Option"/>
          <p:cNvSpPr/>
          <p:nvPr/>
        </p:nvSpPr>
        <p:spPr>
          <a:xfrm>
            <a:off x="327355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0156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Constipation</a:t>
            </a:r>
            <a:endParaRPr lang="en-US" sz="1400" dirty="0"/>
          </a:p>
        </p:txBody>
      </p:sp>
      <p:sp>
        <p:nvSpPr>
          <p:cNvPr id="27" name="Option"/>
          <p:cNvSpPr/>
          <p:nvPr/>
        </p:nvSpPr>
        <p:spPr>
          <a:xfrm>
            <a:off x="54864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Aspiration</a:t>
            </a:r>
            <a:endParaRPr lang="en-US" sz="1400" dirty="0"/>
          </a:p>
        </p:txBody>
      </p:sp>
      <p:sp>
        <p:nvSpPr>
          <p:cNvPr id="29" name="Option"/>
          <p:cNvSpPr/>
          <p:nvPr/>
        </p:nvSpPr>
        <p:spPr>
          <a:xfrm>
            <a:off x="327355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0156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Tube blockage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21792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Q4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Enteral (NG) feeding requires…</a:t>
            </a:r>
            <a:endParaRPr lang="en-US" sz="1600" dirty="0"/>
          </a:p>
        </p:txBody>
      </p:sp>
      <p:sp>
        <p:nvSpPr>
          <p:cNvPr id="32" name="Option"/>
          <p:cNvSpPr/>
          <p:nvPr/>
        </p:nvSpPr>
        <p:spPr>
          <a:xfrm>
            <a:off x="621792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4593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functional GI tract</a:t>
            </a:r>
            <a:endParaRPr lang="en-US" sz="1400" dirty="0"/>
          </a:p>
        </p:txBody>
      </p:sp>
      <p:sp>
        <p:nvSpPr>
          <p:cNvPr id="34" name="Option"/>
          <p:cNvSpPr/>
          <p:nvPr/>
        </p:nvSpPr>
        <p:spPr>
          <a:xfrm>
            <a:off x="894283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07084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child over 2 years</a:t>
            </a:r>
            <a:endParaRPr lang="en-US" sz="1400" dirty="0"/>
          </a:p>
        </p:txBody>
      </p:sp>
      <p:sp>
        <p:nvSpPr>
          <p:cNvPr id="36" name="Option"/>
          <p:cNvSpPr/>
          <p:nvPr/>
        </p:nvSpPr>
        <p:spPr>
          <a:xfrm>
            <a:off x="621792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34593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prescription</a:t>
            </a:r>
            <a:endParaRPr lang="en-US" sz="1400" dirty="0"/>
          </a:p>
        </p:txBody>
      </p:sp>
      <p:sp>
        <p:nvSpPr>
          <p:cNvPr id="38" name="Option"/>
          <p:cNvSpPr/>
          <p:nvPr/>
        </p:nvSpPr>
        <p:spPr>
          <a:xfrm>
            <a:off x="894283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07084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24 hours of fasting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NG TUBE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check: answers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Q1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Before every NG feed, the nurse must…</a:t>
            </a:r>
            <a:endParaRPr lang="en-US" sz="1600" dirty="0"/>
          </a:p>
        </p:txBody>
      </p:sp>
      <p:sp>
        <p:nvSpPr>
          <p:cNvPr id="5" name="Option"/>
          <p:cNvSpPr/>
          <p:nvPr/>
        </p:nvSpPr>
        <p:spPr>
          <a:xfrm>
            <a:off x="54864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Weigh the infant</a:t>
            </a:r>
            <a:endParaRPr lang="en-US" sz="1400" dirty="0"/>
          </a:p>
        </p:txBody>
      </p:sp>
      <p:sp>
        <p:nvSpPr>
          <p:cNvPr id="7" name="Option"/>
          <p:cNvSpPr/>
          <p:nvPr/>
        </p:nvSpPr>
        <p:spPr>
          <a:xfrm>
            <a:off x="327355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156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Check tube position (approved method)</a:t>
            </a:r>
            <a:endParaRPr lang="en-US" sz="1400" dirty="0"/>
          </a:p>
        </p:txBody>
      </p:sp>
      <p:sp>
        <p:nvSpPr>
          <p:cNvPr id="9" name="Option"/>
          <p:cNvSpPr/>
          <p:nvPr/>
        </p:nvSpPr>
        <p:spPr>
          <a:xfrm>
            <a:off x="54864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Warm the feed</a:t>
            </a:r>
            <a:endParaRPr lang="en-US" sz="1400" dirty="0"/>
          </a:p>
        </p:txBody>
      </p:sp>
      <p:sp>
        <p:nvSpPr>
          <p:cNvPr id="11" name="Option"/>
          <p:cNvSpPr/>
          <p:nvPr/>
        </p:nvSpPr>
        <p:spPr>
          <a:xfrm>
            <a:off x="327355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Change the tape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2278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Never administer a feed if tube placement is uncertain.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Q2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infant coughs and becomes cyanosed during a feed. You…</a:t>
            </a:r>
            <a:endParaRPr lang="en-US" sz="1600" dirty="0"/>
          </a:p>
        </p:txBody>
      </p:sp>
      <p:sp>
        <p:nvSpPr>
          <p:cNvPr id="15" name="Option"/>
          <p:cNvSpPr/>
          <p:nvPr/>
        </p:nvSpPr>
        <p:spPr>
          <a:xfrm>
            <a:off x="621792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4593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Speed up to finish</a:t>
            </a:r>
            <a:endParaRPr lang="en-US" sz="1400" dirty="0"/>
          </a:p>
        </p:txBody>
      </p:sp>
      <p:sp>
        <p:nvSpPr>
          <p:cNvPr id="17" name="Option"/>
          <p:cNvSpPr/>
          <p:nvPr/>
        </p:nvSpPr>
        <p:spPr>
          <a:xfrm>
            <a:off x="894283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7084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Stop feeding</a:t>
            </a:r>
            <a:endParaRPr lang="en-US" sz="1400" dirty="0"/>
          </a:p>
        </p:txBody>
      </p:sp>
      <p:sp>
        <p:nvSpPr>
          <p:cNvPr id="19" name="Option"/>
          <p:cNvSpPr/>
          <p:nvPr/>
        </p:nvSpPr>
        <p:spPr>
          <a:xfrm>
            <a:off x="621792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4593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Flush the tube</a:t>
            </a:r>
            <a:endParaRPr lang="en-US" sz="1400" dirty="0"/>
          </a:p>
        </p:txBody>
      </p:sp>
      <p:sp>
        <p:nvSpPr>
          <p:cNvPr id="21" name="Option"/>
          <p:cNvSpPr/>
          <p:nvPr/>
        </p:nvSpPr>
        <p:spPr>
          <a:xfrm>
            <a:off x="894283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07084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Continue and observe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2278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Stop feeding if coughing, cyanosis or distress occur.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Q3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most serious complication of NG feeding is…</a:t>
            </a:r>
            <a:endParaRPr lang="en-US" sz="1600" dirty="0"/>
          </a:p>
        </p:txBody>
      </p:sp>
      <p:sp>
        <p:nvSpPr>
          <p:cNvPr id="25" name="Option"/>
          <p:cNvSpPr/>
          <p:nvPr/>
        </p:nvSpPr>
        <p:spPr>
          <a:xfrm>
            <a:off x="54864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Nasal irritation</a:t>
            </a:r>
            <a:endParaRPr lang="en-US" sz="1400" dirty="0"/>
          </a:p>
        </p:txBody>
      </p:sp>
      <p:sp>
        <p:nvSpPr>
          <p:cNvPr id="27" name="Option"/>
          <p:cNvSpPr/>
          <p:nvPr/>
        </p:nvSpPr>
        <p:spPr>
          <a:xfrm>
            <a:off x="327355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0156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Constipation</a:t>
            </a:r>
            <a:endParaRPr lang="en-US" sz="1400" dirty="0"/>
          </a:p>
        </p:txBody>
      </p:sp>
      <p:sp>
        <p:nvSpPr>
          <p:cNvPr id="29" name="Option"/>
          <p:cNvSpPr/>
          <p:nvPr/>
        </p:nvSpPr>
        <p:spPr>
          <a:xfrm>
            <a:off x="54864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665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Aspiration</a:t>
            </a:r>
            <a:endParaRPr lang="en-US" sz="1400" dirty="0"/>
          </a:p>
        </p:txBody>
      </p:sp>
      <p:sp>
        <p:nvSpPr>
          <p:cNvPr id="31" name="Option"/>
          <p:cNvSpPr/>
          <p:nvPr/>
        </p:nvSpPr>
        <p:spPr>
          <a:xfrm>
            <a:off x="327355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Tube blockage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Most serious complication: aspiration.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21792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Q4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Enteral (NG) feeding requires…</a:t>
            </a:r>
            <a:endParaRPr lang="en-US" sz="1600" dirty="0"/>
          </a:p>
        </p:txBody>
      </p:sp>
      <p:sp>
        <p:nvSpPr>
          <p:cNvPr id="35" name="Option"/>
          <p:cNvSpPr/>
          <p:nvPr/>
        </p:nvSpPr>
        <p:spPr>
          <a:xfrm>
            <a:off x="621792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4593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functional GI tract</a:t>
            </a:r>
            <a:endParaRPr lang="en-US" sz="1400" dirty="0"/>
          </a:p>
        </p:txBody>
      </p:sp>
      <p:sp>
        <p:nvSpPr>
          <p:cNvPr id="37" name="Option"/>
          <p:cNvSpPr/>
          <p:nvPr/>
        </p:nvSpPr>
        <p:spPr>
          <a:xfrm>
            <a:off x="894283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07084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child over 2 years</a:t>
            </a:r>
            <a:endParaRPr lang="en-US" sz="1400" dirty="0"/>
          </a:p>
        </p:txBody>
      </p:sp>
      <p:sp>
        <p:nvSpPr>
          <p:cNvPr id="39" name="Option"/>
          <p:cNvSpPr/>
          <p:nvPr/>
        </p:nvSpPr>
        <p:spPr>
          <a:xfrm>
            <a:off x="621792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4593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prescription</a:t>
            </a:r>
            <a:endParaRPr lang="en-US" sz="1400" dirty="0"/>
          </a:p>
        </p:txBody>
      </p:sp>
      <p:sp>
        <p:nvSpPr>
          <p:cNvPr id="41" name="Option"/>
          <p:cNvSpPr/>
          <p:nvPr/>
        </p:nvSpPr>
        <p:spPr>
          <a:xfrm>
            <a:off x="894283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07084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24 hours of fasting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217920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The GI tract should be functional for enteral feeding.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85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1"/>
                </a:solidFill>
              </a:rPr>
              <a:t>PART 4 OF 4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chemeClr val="bg1">
                    <a:alpha val="35000"/>
                  </a:schemeClr>
                </a:solidFill>
              </a:rPr>
              <a:t>04</a:t>
            </a:r>
            <a:endParaRPr lang="en-US" sz="88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25146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Weaning</a:t>
            </a:r>
            <a:endParaRPr lang="en-US" sz="4800" dirty="0"/>
          </a:p>
        </p:txBody>
      </p:sp>
      <p:sp>
        <p:nvSpPr>
          <p:cNvPr id="5" name="Topic chip"/>
          <p:cNvSpPr/>
          <p:nvPr/>
        </p:nvSpPr>
        <p:spPr>
          <a:xfrm>
            <a:off x="640080" y="3977640"/>
            <a:ext cx="2336292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977640"/>
            <a:ext cx="23362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Complementary feeding</a:t>
            </a:r>
            <a:endParaRPr lang="en-US" sz="1400" dirty="0"/>
          </a:p>
        </p:txBody>
      </p:sp>
      <p:sp>
        <p:nvSpPr>
          <p:cNvPr id="7" name="Topic chip"/>
          <p:cNvSpPr/>
          <p:nvPr/>
        </p:nvSpPr>
        <p:spPr>
          <a:xfrm>
            <a:off x="3113532" y="3977640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113532" y="39776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Principles</a:t>
            </a:r>
            <a:endParaRPr lang="en-US" sz="1400" dirty="0"/>
          </a:p>
        </p:txBody>
      </p:sp>
      <p:sp>
        <p:nvSpPr>
          <p:cNvPr id="9" name="Topic chip"/>
          <p:cNvSpPr/>
          <p:nvPr/>
        </p:nvSpPr>
        <p:spPr>
          <a:xfrm>
            <a:off x="4530852" y="3977640"/>
            <a:ext cx="80010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30852" y="3977640"/>
            <a:ext cx="8001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Foods</a:t>
            </a:r>
            <a:endParaRPr lang="en-US" sz="1400" dirty="0"/>
          </a:p>
        </p:txBody>
      </p:sp>
      <p:sp>
        <p:nvSpPr>
          <p:cNvPr id="11" name="Topic chip"/>
          <p:cNvSpPr/>
          <p:nvPr/>
        </p:nvSpPr>
        <p:spPr>
          <a:xfrm>
            <a:off x="5468112" y="3977640"/>
            <a:ext cx="1664208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68112" y="3977640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Foods to avoid</a:t>
            </a:r>
            <a:endParaRPr lang="en-US" sz="1400" dirty="0"/>
          </a:p>
        </p:txBody>
      </p:sp>
      <p:sp>
        <p:nvSpPr>
          <p:cNvPr id="13" name="Topic chip"/>
          <p:cNvSpPr/>
          <p:nvPr/>
        </p:nvSpPr>
        <p:spPr>
          <a:xfrm>
            <a:off x="640080" y="4480560"/>
            <a:ext cx="1664208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480560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Feeding safety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2578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1">
                    <a:alpha val="75000"/>
                  </a:schemeClr>
                </a:solidFill>
              </a:rPr>
              <a:t>KEEP THIS QUESTION IN MIND
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Why do complementary foods start at about 6 months?</a:t>
            </a:r>
            <a:endParaRPr lang="en-US" sz="1600" dirty="0"/>
          </a:p>
        </p:txBody>
      </p:sp>
      <p:sp>
        <p:nvSpPr>
          <p:cNvPr id="16" name="Quote rule"/>
          <p:cNvSpPr/>
          <p:nvPr/>
        </p:nvSpPr>
        <p:spPr>
          <a:xfrm>
            <a:off x="658368" y="5285232"/>
            <a:ext cx="0" cy="841248"/>
          </a:xfrm>
          <a:prstGeom prst="line">
            <a:avLst/>
          </a:prstGeom>
          <a:noFill/>
          <a:ln w="31750">
            <a:solidFill>
              <a:schemeClr val="bg1">
                <a:alpha val="60000"/>
              </a:schemeClr>
            </a:solidFill>
            <a:prstDash val="solid"/>
          </a:ln>
        </p:spPr>
      </p:sp>
      <p:pic>
        <p:nvPicPr>
          <p:cNvPr id="17" name="Illustration dv4" descr="Line illustration for Wea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376172"/>
            <a:ext cx="4023360" cy="4014216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PART 4 · WEANING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Weaning / complementary feeding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Weaning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 in this context means introducing complementary foods while continuing breastfeeding. It should begin at approximately 6 months of age.</a:t>
            </a:r>
            <a:endParaRPr lang="en-US" sz="2000" dirty="0"/>
          </a:p>
        </p:txBody>
      </p:sp>
      <p:sp>
        <p:nvSpPr>
          <p:cNvPr id="5" name="Card"/>
          <p:cNvSpPr/>
          <p:nvPr/>
        </p:nvSpPr>
        <p:spPr>
          <a:xfrm>
            <a:off x="548640" y="2514600"/>
            <a:ext cx="6035040" cy="356616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2697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WHY?</a:t>
            </a:r>
            <a:endParaRPr lang="en-US" sz="1200" dirty="0"/>
          </a:p>
        </p:txBody>
      </p:sp>
      <p:sp>
        <p:nvSpPr>
          <p:cNvPr id="7" name="Icon circle"/>
          <p:cNvSpPr/>
          <p:nvPr/>
        </p:nvSpPr>
        <p:spPr>
          <a:xfrm>
            <a:off x="822960" y="3209544"/>
            <a:ext cx="594360" cy="5943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8" name="Image 0" descr="puzzl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3328416"/>
            <a:ext cx="356616" cy="35661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3063240"/>
            <a:ext cx="480060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Breast milk alone no longer provides all nutritional requirements.</a:t>
            </a:r>
            <a:endParaRPr lang="en-US" sz="1600" dirty="0"/>
          </a:p>
        </p:txBody>
      </p:sp>
      <p:sp>
        <p:nvSpPr>
          <p:cNvPr id="10" name="Icon circle"/>
          <p:cNvSpPr/>
          <p:nvPr/>
        </p:nvSpPr>
        <p:spPr>
          <a:xfrm>
            <a:off x="822960" y="4169664"/>
            <a:ext cx="594360" cy="5943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1" name="Image 1" descr="bol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4288536"/>
            <a:ext cx="356616" cy="35661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600200" y="4023360"/>
            <a:ext cx="480060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infant needs additional energy and nutrients.</a:t>
            </a:r>
            <a:endParaRPr lang="en-US" sz="1600" dirty="0"/>
          </a:p>
        </p:txBody>
      </p:sp>
      <p:sp>
        <p:nvSpPr>
          <p:cNvPr id="13" name="Icon circle"/>
          <p:cNvSpPr/>
          <p:nvPr/>
        </p:nvSpPr>
        <p:spPr>
          <a:xfrm>
            <a:off x="822960" y="5129784"/>
            <a:ext cx="594360" cy="5943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4" name="Image 2" descr="chew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5248656"/>
            <a:ext cx="356616" cy="3566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00200" y="4983480"/>
            <a:ext cx="480060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It supports development of chewing and swallowing skills.</a:t>
            </a:r>
            <a:endParaRPr lang="en-US" sz="1600" dirty="0"/>
          </a:p>
        </p:txBody>
      </p:sp>
      <p:sp>
        <p:nvSpPr>
          <p:cNvPr id="16" name="Icon circle"/>
          <p:cNvSpPr/>
          <p:nvPr/>
        </p:nvSpPr>
        <p:spPr>
          <a:xfrm>
            <a:off x="7223760" y="2743200"/>
            <a:ext cx="1097280" cy="109728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7" name="Image 3" descr="drop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3216" y="2962656"/>
            <a:ext cx="658368" cy="658368"/>
          </a:xfrm>
          <a:prstGeom prst="rect">
            <a:avLst/>
          </a:prstGeom>
        </p:spPr>
      </p:pic>
      <p:sp>
        <p:nvSpPr>
          <p:cNvPr id="18" name="6 months badge"/>
          <p:cNvSpPr/>
          <p:nvPr/>
        </p:nvSpPr>
        <p:spPr>
          <a:xfrm>
            <a:off x="8686800" y="2606040"/>
            <a:ext cx="1371600" cy="13716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8686800" y="2606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6
</a:t>
            </a:r>
            <a:pPr algn="ctr" indent="0" marL="0">
              <a:buNone/>
            </a:pPr>
            <a:r>
              <a:rPr lang="en-US" sz="1100" b="1" spc="200" kern="0" dirty="0">
                <a:solidFill>
                  <a:schemeClr val="bg1"/>
                </a:solidFill>
              </a:rPr>
              <a:t>MONTHS</a:t>
            </a:r>
            <a:endParaRPr lang="en-US" sz="1600" dirty="0"/>
          </a:p>
        </p:txBody>
      </p:sp>
      <p:sp>
        <p:nvSpPr>
          <p:cNvPr id="20" name="Icon circle"/>
          <p:cNvSpPr/>
          <p:nvPr/>
        </p:nvSpPr>
        <p:spPr>
          <a:xfrm>
            <a:off x="10332720" y="2743200"/>
            <a:ext cx="1097280" cy="109728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21" name="Image 4" descr="bowl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52176" y="2962656"/>
            <a:ext cx="658368" cy="658368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6949440" y="4526280"/>
            <a:ext cx="4709160" cy="1554480"/>
          </a:xfrm>
          <a:prstGeom prst="roundRect">
            <a:avLst>
              <a:gd name="adj" fmla="val 7059"/>
            </a:avLst>
          </a:prstGeom>
          <a:solidFill>
            <a:srgbClr val="1B7A43">
              <a:alpha val="10000"/>
            </a:srgbClr>
          </a:solidFill>
          <a:ln w="12700">
            <a:solidFill>
              <a:srgbClr val="1B7A43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178040" y="4526280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Breastfeeding should continue alongside complementary feeding.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PART 4 · WEANING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Principles of weaning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B636B"/>
                </a:solidFill>
              </a:rPr>
              <a:t>When introducing complementary foods: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182880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49808" y="2103120"/>
            <a:ext cx="731520" cy="73152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7" name="Image 0" descr="cal6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249424"/>
            <a:ext cx="438912" cy="4389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45920" y="19202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Start around 6 months.</a:t>
            </a:r>
            <a:endParaRPr lang="en-US" sz="1600" dirty="0"/>
          </a:p>
        </p:txBody>
      </p:sp>
      <p:sp>
        <p:nvSpPr>
          <p:cNvPr id="9" name="Card"/>
          <p:cNvSpPr/>
          <p:nvPr/>
        </p:nvSpPr>
        <p:spPr>
          <a:xfrm>
            <a:off x="4297680" y="182880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4498848" y="2103120"/>
            <a:ext cx="731520" cy="73152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1" name="Image 1" descr="spoon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152" y="2249424"/>
            <a:ext cx="438912" cy="4389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19202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Begin with small amounts.</a:t>
            </a:r>
            <a:endParaRPr lang="en-US" sz="1600" dirty="0"/>
          </a:p>
        </p:txBody>
      </p:sp>
      <p:sp>
        <p:nvSpPr>
          <p:cNvPr id="13" name="Card"/>
          <p:cNvSpPr/>
          <p:nvPr/>
        </p:nvSpPr>
        <p:spPr>
          <a:xfrm>
            <a:off x="8046720" y="182880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8247888" y="2103120"/>
            <a:ext cx="731520" cy="73152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5" name="Image 2" descr="stairs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4942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44000" y="19202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Introduce foods gradually.</a:t>
            </a:r>
            <a:endParaRPr lang="en-US" sz="1600" dirty="0"/>
          </a:p>
        </p:txBody>
      </p:sp>
      <p:sp>
        <p:nvSpPr>
          <p:cNvPr id="17" name="Card"/>
          <p:cNvSpPr/>
          <p:nvPr/>
        </p:nvSpPr>
        <p:spPr>
          <a:xfrm>
            <a:off x="548640" y="329184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749808" y="3566160"/>
            <a:ext cx="731520" cy="73152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9" name="Image 3" descr="layers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712464"/>
            <a:ext cx="438912" cy="43891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45920" y="33832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Increase variety and texture as the child develops.</a:t>
            </a:r>
            <a:endParaRPr lang="en-US" sz="1600" dirty="0"/>
          </a:p>
        </p:txBody>
      </p:sp>
      <p:sp>
        <p:nvSpPr>
          <p:cNvPr id="21" name="Card"/>
          <p:cNvSpPr/>
          <p:nvPr/>
        </p:nvSpPr>
        <p:spPr>
          <a:xfrm>
            <a:off x="4297680" y="329184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2" name="Icon circle"/>
          <p:cNvSpPr/>
          <p:nvPr/>
        </p:nvSpPr>
        <p:spPr>
          <a:xfrm>
            <a:off x="4498848" y="3566160"/>
            <a:ext cx="731520" cy="73152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23" name="Image 4" descr="drop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5152" y="371246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394960" y="33832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Continue breastfeeding.</a:t>
            </a:r>
            <a:endParaRPr lang="en-US" sz="1600" dirty="0"/>
          </a:p>
        </p:txBody>
      </p:sp>
      <p:sp>
        <p:nvSpPr>
          <p:cNvPr id="25" name="Card"/>
          <p:cNvSpPr/>
          <p:nvPr/>
        </p:nvSpPr>
        <p:spPr>
          <a:xfrm>
            <a:off x="8046720" y="329184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6" name="Icon circle"/>
          <p:cNvSpPr/>
          <p:nvPr/>
        </p:nvSpPr>
        <p:spPr>
          <a:xfrm>
            <a:off x="8247888" y="3566160"/>
            <a:ext cx="731520" cy="73152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27" name="Image 5" descr="leaf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4192" y="3712464"/>
            <a:ext cx="438912" cy="43891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144000" y="33832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 nutrient-rich foods.</a:t>
            </a:r>
            <a:endParaRPr lang="en-US" sz="1600" dirty="0"/>
          </a:p>
        </p:txBody>
      </p:sp>
      <p:sp>
        <p:nvSpPr>
          <p:cNvPr id="29" name="Card"/>
          <p:cNvSpPr/>
          <p:nvPr/>
        </p:nvSpPr>
        <p:spPr>
          <a:xfrm>
            <a:off x="548640" y="475488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30" name="Icon circle"/>
          <p:cNvSpPr/>
          <p:nvPr/>
        </p:nvSpPr>
        <p:spPr>
          <a:xfrm>
            <a:off x="749808" y="5029200"/>
            <a:ext cx="731520" cy="73152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31" name="Image 6" descr="heart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" y="51755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45920" y="48463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Encourage responsive feeding.</a:t>
            </a:r>
            <a:endParaRPr lang="en-US" sz="1600" dirty="0"/>
          </a:p>
        </p:txBody>
      </p:sp>
      <p:sp>
        <p:nvSpPr>
          <p:cNvPr id="33" name="Card"/>
          <p:cNvSpPr/>
          <p:nvPr/>
        </p:nvSpPr>
        <p:spPr>
          <a:xfrm>
            <a:off x="4297680" y="475488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34" name="Icon circle"/>
          <p:cNvSpPr/>
          <p:nvPr/>
        </p:nvSpPr>
        <p:spPr>
          <a:xfrm>
            <a:off x="4498848" y="5029200"/>
            <a:ext cx="731520" cy="73152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35" name="Image 7" descr="soap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5175504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5394960" y="48463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Maintain good hygiene.</a:t>
            </a:r>
            <a:endParaRPr lang="en-US" sz="1600" dirty="0"/>
          </a:p>
        </p:txBody>
      </p:sp>
      <p:sp>
        <p:nvSpPr>
          <p:cNvPr id="37" name="Card"/>
          <p:cNvSpPr/>
          <p:nvPr/>
        </p:nvSpPr>
        <p:spPr>
          <a:xfrm>
            <a:off x="8046720" y="475488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12700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38" name="Icon circle"/>
          <p:cNvSpPr/>
          <p:nvPr/>
        </p:nvSpPr>
        <p:spPr>
          <a:xfrm>
            <a:off x="8247888" y="5029200"/>
            <a:ext cx="731520" cy="731520"/>
          </a:xfrm>
          <a:prstGeom prst="ellipse">
            <a:avLst/>
          </a:prstGeom>
          <a:solidFill>
            <a:schemeClr val="accent5">
              <a:alpha val="12000"/>
            </a:schemeClr>
          </a:solidFill>
          <a:ln/>
        </p:spPr>
      </p:sp>
      <p:pic>
        <p:nvPicPr>
          <p:cNvPr id="39" name="Image 8" descr="handStop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94192" y="5175504"/>
            <a:ext cx="438912" cy="438912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9144000" y="48463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2A2A"/>
                </a:solidFill>
              </a:rPr>
              <a:t>Do not force the child to eat.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PART 4 · WEANING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Foods during weaning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B636B"/>
                </a:solidFill>
              </a:rPr>
              <a:t>Offer a variety of: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182880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6" name="Image 0" descr="Cereals &amp; grai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94560"/>
            <a:ext cx="914400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9202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Cereals &amp; grains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46704" y="182880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9" name="Image 1" descr="Vegetab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3864" y="2194560"/>
            <a:ext cx="914400" cy="914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489704" y="19202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Vegetables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6144768" y="182880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2" name="Image 2" descr="Frui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2194560"/>
            <a:ext cx="914400" cy="914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87768" y="19202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Fruits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942832" y="182880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5" name="Image 3" descr="Egg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2" y="2194560"/>
            <a:ext cx="914400" cy="9144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0085832" y="19202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Eggs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548640" y="365760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8" name="Image 4" descr="Meat, chicken &amp; fis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023360"/>
            <a:ext cx="914400" cy="914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1640" y="37490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Meat, chicken &amp; fish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3346704" y="365760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1" name="Image 5" descr="Legum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3864" y="4023360"/>
            <a:ext cx="914400" cy="9144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4489704" y="37490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Legumes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144768" y="365760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4" name="Image 6" descr="Dairy foods appropriate for 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1928" y="4023360"/>
            <a:ext cx="914400" cy="91440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287768" y="37490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Dairy foods appropriate for age</a:t>
            </a:r>
            <a:endParaRPr lang="en-US" sz="1500" dirty="0"/>
          </a:p>
        </p:txBody>
      </p:sp>
      <p:sp>
        <p:nvSpPr>
          <p:cNvPr id="26" name="Card"/>
          <p:cNvSpPr/>
          <p:nvPr/>
        </p:nvSpPr>
        <p:spPr>
          <a:xfrm>
            <a:off x="8942832" y="365760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7" name="Image 7" descr="Healthy fats / oil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79992" y="4023360"/>
            <a:ext cx="914400" cy="91440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10085832" y="37490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Healthy fats / oils</a:t>
            </a:r>
            <a:endParaRPr lang="en-US" sz="1500" dirty="0"/>
          </a:p>
        </p:txBody>
      </p:sp>
      <p:sp>
        <p:nvSpPr>
          <p:cNvPr id="29" name="Text 19"/>
          <p:cNvSpPr txBox="1"/>
          <p:nvPr/>
        </p:nvSpPr>
        <p:spPr>
          <a:xfrm>
            <a:off x="548640" y="5715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636B"/>
                </a:solidFill>
              </a:rPr>
              <a:t>CHOOSE FOODS RICH IN</a:t>
            </a:r>
            <a:endParaRPr lang="en-US" sz="1200" dirty="0"/>
          </a:p>
        </p:txBody>
      </p:sp>
      <p:sp>
        <p:nvSpPr>
          <p:cNvPr id="30" name="Pill"/>
          <p:cNvSpPr/>
          <p:nvPr/>
        </p:nvSpPr>
        <p:spPr>
          <a:xfrm>
            <a:off x="3017520" y="5733288"/>
            <a:ext cx="914400" cy="420624"/>
          </a:xfrm>
          <a:prstGeom prst="roundRect">
            <a:avLst>
              <a:gd name="adj" fmla="val 50000"/>
            </a:avLst>
          </a:prstGeom>
          <a:solidFill>
            <a:schemeClr val="accent4">
              <a:alpha val="12000"/>
            </a:schemeClr>
          </a:solidFill>
          <a:ln w="9525">
            <a:solidFill>
              <a:schemeClr val="accent4">
                <a:alpha val="50000"/>
              </a:scheme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3017520" y="57332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Iron</a:t>
            </a:r>
            <a:endParaRPr lang="en-US" sz="1400" dirty="0"/>
          </a:p>
        </p:txBody>
      </p:sp>
      <p:sp>
        <p:nvSpPr>
          <p:cNvPr id="32" name="Pill"/>
          <p:cNvSpPr/>
          <p:nvPr/>
        </p:nvSpPr>
        <p:spPr>
          <a:xfrm>
            <a:off x="4069080" y="5733288"/>
            <a:ext cx="1188720" cy="420624"/>
          </a:xfrm>
          <a:prstGeom prst="roundRect">
            <a:avLst>
              <a:gd name="adj" fmla="val 50000"/>
            </a:avLst>
          </a:prstGeom>
          <a:solidFill>
            <a:schemeClr val="accent4">
              <a:alpha val="12000"/>
            </a:schemeClr>
          </a:solidFill>
          <a:ln w="9525">
            <a:solidFill>
              <a:schemeClr val="accent4">
                <a:alpha val="50000"/>
              </a:schemeClr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4069080" y="573328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Protein</a:t>
            </a:r>
            <a:endParaRPr lang="en-US" sz="1400" dirty="0"/>
          </a:p>
        </p:txBody>
      </p:sp>
      <p:sp>
        <p:nvSpPr>
          <p:cNvPr id="34" name="Pill"/>
          <p:cNvSpPr/>
          <p:nvPr/>
        </p:nvSpPr>
        <p:spPr>
          <a:xfrm>
            <a:off x="5394960" y="5733288"/>
            <a:ext cx="1143000" cy="420624"/>
          </a:xfrm>
          <a:prstGeom prst="roundRect">
            <a:avLst>
              <a:gd name="adj" fmla="val 50000"/>
            </a:avLst>
          </a:prstGeom>
          <a:solidFill>
            <a:schemeClr val="accent4">
              <a:alpha val="12000"/>
            </a:schemeClr>
          </a:solidFill>
          <a:ln w="9525">
            <a:solidFill>
              <a:schemeClr val="accent4">
                <a:alpha val="50000"/>
              </a:schemeClr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5394960" y="5733288"/>
            <a:ext cx="1143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Energy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6675120" y="5733288"/>
            <a:ext cx="2148840" cy="420624"/>
          </a:xfrm>
          <a:prstGeom prst="roundRect">
            <a:avLst>
              <a:gd name="adj" fmla="val 50000"/>
            </a:avLst>
          </a:prstGeom>
          <a:solidFill>
            <a:schemeClr val="accent4">
              <a:alpha val="12000"/>
            </a:schemeClr>
          </a:solidFill>
          <a:ln w="9525">
            <a:solidFill>
              <a:schemeClr val="accent4">
                <a:alpha val="50000"/>
              </a:schemeClr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6675120" y="5733288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Vitamins &amp; minerals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PART 4 · WEANING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Foods to avoid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508760"/>
            <a:ext cx="352044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5" name="Image 0" descr="Honey before 12 month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83080"/>
            <a:ext cx="1051560" cy="1051560"/>
          </a:xfrm>
          <a:prstGeom prst="rect">
            <a:avLst/>
          </a:prstGeom>
        </p:spPr>
      </p:pic>
      <p:sp>
        <p:nvSpPr>
          <p:cNvPr id="6" name="No sign"/>
          <p:cNvSpPr/>
          <p:nvPr/>
        </p:nvSpPr>
        <p:spPr>
          <a:xfrm>
            <a:off x="731520" y="1737360"/>
            <a:ext cx="1143000" cy="1143000"/>
          </a:xfrm>
          <a:prstGeom prst="ellipse">
            <a:avLst/>
          </a:prstGeom>
          <a:ln w="50800">
            <a:solidFill>
              <a:srgbClr val="BF2A2A"/>
            </a:solidFill>
            <a:prstDash val="solid"/>
          </a:ln>
        </p:spPr>
      </p:sp>
      <p:sp>
        <p:nvSpPr>
          <p:cNvPr id="7" name="No sign slash"/>
          <p:cNvSpPr/>
          <p:nvPr/>
        </p:nvSpPr>
        <p:spPr>
          <a:xfrm>
            <a:off x="896112" y="1901952"/>
            <a:ext cx="813816" cy="813816"/>
          </a:xfrm>
          <a:prstGeom prst="line">
            <a:avLst/>
          </a:prstGeom>
          <a:noFill/>
          <a:ln w="50800">
            <a:solidFill>
              <a:srgbClr val="BF2A2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011680" y="1600200"/>
            <a:ext cx="1920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Honey before 12 months
</a:t>
            </a:r>
            <a:pPr indent="0" marL="0">
              <a:buNone/>
            </a:pPr>
            <a:r>
              <a:rPr lang="en-US" sz="1400" b="1" dirty="0">
                <a:solidFill>
                  <a:srgbClr val="BF2A2A"/>
                </a:solidFill>
              </a:rPr>
              <a:t>Risk of infant botulism</a:t>
            </a:r>
            <a:endParaRPr lang="en-US" sz="1600" dirty="0"/>
          </a:p>
        </p:txBody>
      </p:sp>
      <p:sp>
        <p:nvSpPr>
          <p:cNvPr id="9" name="Card"/>
          <p:cNvSpPr/>
          <p:nvPr/>
        </p:nvSpPr>
        <p:spPr>
          <a:xfrm>
            <a:off x="4297680" y="1508760"/>
            <a:ext cx="352044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0" name="Image 1" descr="Whole nu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83080"/>
            <a:ext cx="1051560" cy="1051560"/>
          </a:xfrm>
          <a:prstGeom prst="rect">
            <a:avLst/>
          </a:prstGeom>
        </p:spPr>
      </p:pic>
      <p:sp>
        <p:nvSpPr>
          <p:cNvPr id="11" name="No sign"/>
          <p:cNvSpPr/>
          <p:nvPr/>
        </p:nvSpPr>
        <p:spPr>
          <a:xfrm>
            <a:off x="4480560" y="1737360"/>
            <a:ext cx="1143000" cy="1143000"/>
          </a:xfrm>
          <a:prstGeom prst="ellipse">
            <a:avLst/>
          </a:prstGeom>
          <a:ln w="50800">
            <a:solidFill>
              <a:srgbClr val="BF2A2A"/>
            </a:solidFill>
            <a:prstDash val="solid"/>
          </a:ln>
        </p:spPr>
      </p:sp>
      <p:sp>
        <p:nvSpPr>
          <p:cNvPr id="12" name="No sign slash"/>
          <p:cNvSpPr/>
          <p:nvPr/>
        </p:nvSpPr>
        <p:spPr>
          <a:xfrm>
            <a:off x="4645152" y="1901952"/>
            <a:ext cx="813816" cy="813816"/>
          </a:xfrm>
          <a:prstGeom prst="line">
            <a:avLst/>
          </a:prstGeom>
          <a:noFill/>
          <a:ln w="50800">
            <a:solidFill>
              <a:srgbClr val="BF2A2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760720" y="1600200"/>
            <a:ext cx="1920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Whole nuts
</a:t>
            </a:r>
            <a:pPr indent="0" marL="0">
              <a:buNone/>
            </a:pPr>
            <a:r>
              <a:rPr lang="en-US" sz="1400" b="1" dirty="0">
                <a:solidFill>
                  <a:srgbClr val="BF2A2A"/>
                </a:solidFill>
              </a:rPr>
              <a:t>Choking risk</a:t>
            </a:r>
            <a:endParaRPr lang="en-US" sz="1600" dirty="0"/>
          </a:p>
        </p:txBody>
      </p:sp>
      <p:sp>
        <p:nvSpPr>
          <p:cNvPr id="14" name="Card"/>
          <p:cNvSpPr/>
          <p:nvPr/>
        </p:nvSpPr>
        <p:spPr>
          <a:xfrm>
            <a:off x="8046720" y="1508760"/>
            <a:ext cx="352044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5" name="Image 2" descr="Whole grap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1783080"/>
            <a:ext cx="1051560" cy="1051560"/>
          </a:xfrm>
          <a:prstGeom prst="rect">
            <a:avLst/>
          </a:prstGeom>
        </p:spPr>
      </p:pic>
      <p:sp>
        <p:nvSpPr>
          <p:cNvPr id="16" name="No sign"/>
          <p:cNvSpPr/>
          <p:nvPr/>
        </p:nvSpPr>
        <p:spPr>
          <a:xfrm>
            <a:off x="8229600" y="1737360"/>
            <a:ext cx="1143000" cy="1143000"/>
          </a:xfrm>
          <a:prstGeom prst="ellipse">
            <a:avLst/>
          </a:prstGeom>
          <a:ln w="50800">
            <a:solidFill>
              <a:srgbClr val="BF2A2A"/>
            </a:solidFill>
            <a:prstDash val="solid"/>
          </a:ln>
        </p:spPr>
      </p:sp>
      <p:sp>
        <p:nvSpPr>
          <p:cNvPr id="17" name="No sign slash"/>
          <p:cNvSpPr/>
          <p:nvPr/>
        </p:nvSpPr>
        <p:spPr>
          <a:xfrm>
            <a:off x="8394192" y="1901952"/>
            <a:ext cx="813816" cy="813816"/>
          </a:xfrm>
          <a:prstGeom prst="line">
            <a:avLst/>
          </a:prstGeom>
          <a:noFill/>
          <a:ln w="50800">
            <a:solidFill>
              <a:srgbClr val="BF2A2A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9509760" y="1600200"/>
            <a:ext cx="1920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Whole grapes
</a:t>
            </a:r>
            <a:pPr indent="0" marL="0">
              <a:buNone/>
            </a:pPr>
            <a:r>
              <a:rPr lang="en-US" sz="1400" b="1" dirty="0">
                <a:solidFill>
                  <a:srgbClr val="BF2A2A"/>
                </a:solidFill>
              </a:rPr>
              <a:t>Choking hazard unless prepared safely</a:t>
            </a:r>
            <a:endParaRPr lang="en-US" sz="1600" dirty="0"/>
          </a:p>
        </p:txBody>
      </p:sp>
      <p:sp>
        <p:nvSpPr>
          <p:cNvPr id="19" name="Card"/>
          <p:cNvSpPr/>
          <p:nvPr/>
        </p:nvSpPr>
        <p:spPr>
          <a:xfrm>
            <a:off x="548640" y="3291840"/>
            <a:ext cx="352044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0" name="Image 3" descr="Excessive salt or added sug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566160"/>
            <a:ext cx="1051560" cy="1051560"/>
          </a:xfrm>
          <a:prstGeom prst="rect">
            <a:avLst/>
          </a:prstGeom>
        </p:spPr>
      </p:pic>
      <p:sp>
        <p:nvSpPr>
          <p:cNvPr id="21" name="No sign"/>
          <p:cNvSpPr/>
          <p:nvPr/>
        </p:nvSpPr>
        <p:spPr>
          <a:xfrm>
            <a:off x="731520" y="3520440"/>
            <a:ext cx="1143000" cy="1143000"/>
          </a:xfrm>
          <a:prstGeom prst="ellipse">
            <a:avLst/>
          </a:prstGeom>
          <a:ln w="50800">
            <a:solidFill>
              <a:srgbClr val="BF2A2A"/>
            </a:solidFill>
            <a:prstDash val="solid"/>
          </a:ln>
        </p:spPr>
      </p:sp>
      <p:sp>
        <p:nvSpPr>
          <p:cNvPr id="22" name="No sign slash"/>
          <p:cNvSpPr/>
          <p:nvPr/>
        </p:nvSpPr>
        <p:spPr>
          <a:xfrm>
            <a:off x="896112" y="3685032"/>
            <a:ext cx="813816" cy="813816"/>
          </a:xfrm>
          <a:prstGeom prst="line">
            <a:avLst/>
          </a:prstGeom>
          <a:noFill/>
          <a:ln w="50800">
            <a:solidFill>
              <a:srgbClr val="BF2A2A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2011680" y="3383280"/>
            <a:ext cx="1920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Excessive salt or added sugar
</a:t>
            </a:r>
            <a:pPr indent="0" marL="0">
              <a:buNone/>
            </a:pPr>
            <a:r>
              <a:rPr lang="en-US" sz="1400" b="1" dirty="0">
                <a:solidFill>
                  <a:srgbClr val="BF2A2A"/>
                </a:solidFill>
              </a:rPr>
              <a:t>Avoid</a:t>
            </a:r>
            <a:endParaRPr lang="en-US" sz="1600" dirty="0"/>
          </a:p>
        </p:txBody>
      </p:sp>
      <p:sp>
        <p:nvSpPr>
          <p:cNvPr id="24" name="Card"/>
          <p:cNvSpPr/>
          <p:nvPr/>
        </p:nvSpPr>
        <p:spPr>
          <a:xfrm>
            <a:off x="4297680" y="3291840"/>
            <a:ext cx="352044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5" name="Image 4" descr="Unpasteurised milk / product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3566160"/>
            <a:ext cx="1051560" cy="1051560"/>
          </a:xfrm>
          <a:prstGeom prst="rect">
            <a:avLst/>
          </a:prstGeom>
        </p:spPr>
      </p:pic>
      <p:sp>
        <p:nvSpPr>
          <p:cNvPr id="26" name="No sign"/>
          <p:cNvSpPr/>
          <p:nvPr/>
        </p:nvSpPr>
        <p:spPr>
          <a:xfrm>
            <a:off x="4480560" y="3520440"/>
            <a:ext cx="1143000" cy="1143000"/>
          </a:xfrm>
          <a:prstGeom prst="ellipse">
            <a:avLst/>
          </a:prstGeom>
          <a:ln w="50800">
            <a:solidFill>
              <a:srgbClr val="BF2A2A"/>
            </a:solidFill>
            <a:prstDash val="solid"/>
          </a:ln>
        </p:spPr>
      </p:sp>
      <p:sp>
        <p:nvSpPr>
          <p:cNvPr id="27" name="No sign slash"/>
          <p:cNvSpPr/>
          <p:nvPr/>
        </p:nvSpPr>
        <p:spPr>
          <a:xfrm>
            <a:off x="4645152" y="3685032"/>
            <a:ext cx="813816" cy="813816"/>
          </a:xfrm>
          <a:prstGeom prst="line">
            <a:avLst/>
          </a:prstGeom>
          <a:noFill/>
          <a:ln w="50800">
            <a:solidFill>
              <a:srgbClr val="BF2A2A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5760720" y="3383280"/>
            <a:ext cx="1920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Unpasteurised milk / products
</a:t>
            </a:r>
            <a:pPr indent="0" marL="0">
              <a:buNone/>
            </a:pPr>
            <a:r>
              <a:rPr lang="en-US" sz="1400" b="1" dirty="0">
                <a:solidFill>
                  <a:srgbClr val="BF2A2A"/>
                </a:solidFill>
              </a:rPr>
              <a:t>Avoid</a:t>
            </a:r>
            <a:endParaRPr lang="en-US" sz="1600" dirty="0"/>
          </a:p>
        </p:txBody>
      </p:sp>
      <p:sp>
        <p:nvSpPr>
          <p:cNvPr id="29" name="Card"/>
          <p:cNvSpPr/>
          <p:nvPr/>
        </p:nvSpPr>
        <p:spPr>
          <a:xfrm>
            <a:off x="8046720" y="3291840"/>
            <a:ext cx="352044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30" name="Image 5" descr="Unsafe or contaminated food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20" y="3566160"/>
            <a:ext cx="1051560" cy="1051560"/>
          </a:xfrm>
          <a:prstGeom prst="rect">
            <a:avLst/>
          </a:prstGeom>
        </p:spPr>
      </p:pic>
      <p:sp>
        <p:nvSpPr>
          <p:cNvPr id="31" name="No sign"/>
          <p:cNvSpPr/>
          <p:nvPr/>
        </p:nvSpPr>
        <p:spPr>
          <a:xfrm>
            <a:off x="8229600" y="3520440"/>
            <a:ext cx="1143000" cy="1143000"/>
          </a:xfrm>
          <a:prstGeom prst="ellipse">
            <a:avLst/>
          </a:prstGeom>
          <a:ln w="50800">
            <a:solidFill>
              <a:srgbClr val="BF2A2A"/>
            </a:solidFill>
            <a:prstDash val="solid"/>
          </a:ln>
        </p:spPr>
      </p:sp>
      <p:sp>
        <p:nvSpPr>
          <p:cNvPr id="32" name="No sign slash"/>
          <p:cNvSpPr/>
          <p:nvPr/>
        </p:nvSpPr>
        <p:spPr>
          <a:xfrm>
            <a:off x="8394192" y="3685032"/>
            <a:ext cx="813816" cy="813816"/>
          </a:xfrm>
          <a:prstGeom prst="line">
            <a:avLst/>
          </a:prstGeom>
          <a:noFill/>
          <a:ln w="50800">
            <a:solidFill>
              <a:srgbClr val="BF2A2A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9509760" y="3383280"/>
            <a:ext cx="1920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Unsafe or contaminated foods
</a:t>
            </a:r>
            <a:pPr indent="0" marL="0">
              <a:buNone/>
            </a:pPr>
            <a:r>
              <a:rPr lang="en-US" sz="1400" b="1" dirty="0">
                <a:solidFill>
                  <a:srgbClr val="BF2A2A"/>
                </a:solidFill>
              </a:rPr>
              <a:t>Avoid</a:t>
            </a:r>
            <a:endParaRPr lang="en-US" sz="1600" dirty="0"/>
          </a:p>
        </p:txBody>
      </p:sp>
      <p:sp>
        <p:nvSpPr>
          <p:cNvPr id="34" name="Card"/>
          <p:cNvSpPr/>
          <p:nvPr/>
        </p:nvSpPr>
        <p:spPr>
          <a:xfrm>
            <a:off x="548640" y="5166360"/>
            <a:ext cx="11109960" cy="1051560"/>
          </a:xfrm>
          <a:prstGeom prst="roundRect">
            <a:avLst>
              <a:gd name="adj" fmla="val 10435"/>
            </a:avLst>
          </a:prstGeom>
          <a:solidFill>
            <a:srgbClr val="BF2A2A">
              <a:alpha val="10000"/>
            </a:srgbClr>
          </a:solidFill>
          <a:ln w="12700">
            <a:solidFill>
              <a:srgbClr val="BF2A2A"/>
            </a:solidFill>
            <a:prstDash val="solid"/>
          </a:ln>
        </p:spPr>
      </p:sp>
      <p:pic>
        <p:nvPicPr>
          <p:cNvPr id="35" name="Image 6" descr="Glass of cow’s mil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5257800"/>
            <a:ext cx="868680" cy="86868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1783080" y="5166360"/>
            <a:ext cx="9692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Cow’s milk should not be used as the main drink before 12 months.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PART 4 · WEANING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Feeding safety: choking ≠ gagging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394960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THE CHILD SHOULD</a:t>
            </a:r>
            <a:endParaRPr lang="en-US" sz="1200" dirty="0"/>
          </a:p>
        </p:txBody>
      </p:sp>
      <p:sp>
        <p:nvSpPr>
          <p:cNvPr id="6" name="Icon circle"/>
          <p:cNvSpPr/>
          <p:nvPr/>
        </p:nvSpPr>
        <p:spPr>
          <a:xfrm>
            <a:off x="822960" y="2089404"/>
            <a:ext cx="594360" cy="5943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7" name="Image 0" descr="chair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208276"/>
            <a:ext cx="356616" cy="35661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011680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Sit upright during feeding.</a:t>
            </a:r>
            <a:endParaRPr lang="en-US" sz="1600" dirty="0"/>
          </a:p>
        </p:txBody>
      </p:sp>
      <p:sp>
        <p:nvSpPr>
          <p:cNvPr id="9" name="Icon circle"/>
          <p:cNvSpPr/>
          <p:nvPr/>
        </p:nvSpPr>
        <p:spPr>
          <a:xfrm>
            <a:off x="822960" y="2912364"/>
            <a:ext cx="594360" cy="5943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0" name="Image 1" descr="ey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3031236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600200" y="2834640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Be supervised while eating.</a:t>
            </a:r>
            <a:endParaRPr lang="en-US" sz="1600" dirty="0"/>
          </a:p>
        </p:txBody>
      </p:sp>
      <p:sp>
        <p:nvSpPr>
          <p:cNvPr id="12" name="Icon circle"/>
          <p:cNvSpPr/>
          <p:nvPr/>
        </p:nvSpPr>
        <p:spPr>
          <a:xfrm>
            <a:off x="822960" y="3735324"/>
            <a:ext cx="594360" cy="5943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3" name="Image 2" descr="bowl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3854196"/>
            <a:ext cx="356616" cy="35661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657600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Eat appropriate textures.</a:t>
            </a:r>
            <a:endParaRPr lang="en-US" sz="1600" dirty="0"/>
          </a:p>
        </p:txBody>
      </p:sp>
      <p:sp>
        <p:nvSpPr>
          <p:cNvPr id="15" name="Icon circle"/>
          <p:cNvSpPr/>
          <p:nvPr/>
        </p:nvSpPr>
        <p:spPr>
          <a:xfrm>
            <a:off x="822960" y="4558284"/>
            <a:ext cx="594360" cy="5943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6" name="Image 3" descr="knife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4677156"/>
            <a:ext cx="356616" cy="35661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600200" y="4480560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Have food cut or mashed appropriately.</a:t>
            </a:r>
            <a:endParaRPr lang="en-US" sz="1600" dirty="0"/>
          </a:p>
        </p:txBody>
      </p:sp>
      <p:sp>
        <p:nvSpPr>
          <p:cNvPr id="18" name="Icon circle"/>
          <p:cNvSpPr/>
          <p:nvPr/>
        </p:nvSpPr>
        <p:spPr>
          <a:xfrm>
            <a:off x="822960" y="5440680"/>
            <a:ext cx="594360" cy="594360"/>
          </a:xfrm>
          <a:prstGeom prst="ellipse">
            <a:avLst/>
          </a:prstGeom>
          <a:solidFill>
            <a:schemeClr val="accent5">
              <a:alpha val="12000"/>
            </a:schemeClr>
          </a:solidFill>
          <a:ln/>
        </p:spPr>
      </p:sp>
      <p:pic>
        <p:nvPicPr>
          <p:cNvPr id="19" name="Image 4" descr="aloneX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" y="5559552"/>
            <a:ext cx="356616" cy="35661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00200" y="5349240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2A2A"/>
                </a:solidFill>
              </a:rPr>
              <a:t>Never be left alone while eating.</a:t>
            </a:r>
            <a:endParaRPr lang="en-US" sz="1600" dirty="0"/>
          </a:p>
        </p:txBody>
      </p:sp>
      <p:sp>
        <p:nvSpPr>
          <p:cNvPr id="21" name="Card"/>
          <p:cNvSpPr/>
          <p:nvPr/>
        </p:nvSpPr>
        <p:spPr>
          <a:xfrm>
            <a:off x="6217920" y="1463040"/>
            <a:ext cx="2606040" cy="480060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2" name="Illustration gag" descr="Gagging: airway open, air moving, nois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1614397"/>
            <a:ext cx="2240280" cy="280624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400800" y="457200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1630A"/>
                </a:solidFill>
              </a:rPr>
              <a:t>Gagging
</a:t>
            </a:r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Usually noisy and protective.</a:t>
            </a:r>
            <a:endParaRPr lang="en-US" sz="1600" dirty="0"/>
          </a:p>
        </p:txBody>
      </p:sp>
      <p:sp>
        <p:nvSpPr>
          <p:cNvPr id="24" name="Card"/>
          <p:cNvSpPr/>
          <p:nvPr/>
        </p:nvSpPr>
        <p:spPr>
          <a:xfrm>
            <a:off x="9052560" y="1463040"/>
            <a:ext cx="2606040" cy="4800600"/>
          </a:xfrm>
          <a:prstGeom prst="roundRect">
            <a:avLst>
              <a:gd name="adj" fmla="val 4211"/>
            </a:avLst>
          </a:prstGeom>
          <a:solidFill>
            <a:srgbClr val="BF2A2A">
              <a:alpha val="6000"/>
            </a:srgbClr>
          </a:solidFill>
          <a:ln w="12700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5" name="Illustration choke" descr="Choking: food blocks the airway, may be silen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1614397"/>
            <a:ext cx="2240280" cy="2806245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9235440" y="457200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F2A2A"/>
                </a:solidFill>
              </a:rPr>
              <a:t>Choking
</a:t>
            </a:r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May be silent, with inability to breathe or cough effectively.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PART 4 · WEANING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check: weaning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Q1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Complementary feeding should begin at approximately…</a:t>
            </a:r>
            <a:endParaRPr lang="en-US" sz="1600" dirty="0"/>
          </a:p>
        </p:txBody>
      </p:sp>
      <p:sp>
        <p:nvSpPr>
          <p:cNvPr id="5" name="Option"/>
          <p:cNvSpPr/>
          <p:nvPr/>
        </p:nvSpPr>
        <p:spPr>
          <a:xfrm>
            <a:off x="54864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 months</a:t>
            </a:r>
            <a:endParaRPr lang="en-US" sz="1400" dirty="0"/>
          </a:p>
        </p:txBody>
      </p:sp>
      <p:sp>
        <p:nvSpPr>
          <p:cNvPr id="7" name="Option"/>
          <p:cNvSpPr/>
          <p:nvPr/>
        </p:nvSpPr>
        <p:spPr>
          <a:xfrm>
            <a:off x="327355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156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 months</a:t>
            </a:r>
            <a:endParaRPr lang="en-US" sz="1400" dirty="0"/>
          </a:p>
        </p:txBody>
      </p:sp>
      <p:sp>
        <p:nvSpPr>
          <p:cNvPr id="9" name="Option"/>
          <p:cNvSpPr/>
          <p:nvPr/>
        </p:nvSpPr>
        <p:spPr>
          <a:xfrm>
            <a:off x="54864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6 months</a:t>
            </a:r>
            <a:endParaRPr lang="en-US" sz="1400" dirty="0"/>
          </a:p>
        </p:txBody>
      </p:sp>
      <p:sp>
        <p:nvSpPr>
          <p:cNvPr id="11" name="Option"/>
          <p:cNvSpPr/>
          <p:nvPr/>
        </p:nvSpPr>
        <p:spPr>
          <a:xfrm>
            <a:off x="327355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months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Q2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Honey is avoided before 12 months because of…</a:t>
            </a:r>
            <a:endParaRPr lang="en-US" sz="1600" dirty="0"/>
          </a:p>
        </p:txBody>
      </p:sp>
      <p:sp>
        <p:nvSpPr>
          <p:cNvPr id="14" name="Option"/>
          <p:cNvSpPr/>
          <p:nvPr/>
        </p:nvSpPr>
        <p:spPr>
          <a:xfrm>
            <a:off x="621792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4593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Tooth decay</a:t>
            </a:r>
            <a:endParaRPr lang="en-US" sz="1400" dirty="0"/>
          </a:p>
        </p:txBody>
      </p:sp>
      <p:sp>
        <p:nvSpPr>
          <p:cNvPr id="16" name="Option"/>
          <p:cNvSpPr/>
          <p:nvPr/>
        </p:nvSpPr>
        <p:spPr>
          <a:xfrm>
            <a:off x="894283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7084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Infant botulism</a:t>
            </a:r>
            <a:endParaRPr lang="en-US" sz="1400" dirty="0"/>
          </a:p>
        </p:txBody>
      </p:sp>
      <p:sp>
        <p:nvSpPr>
          <p:cNvPr id="18" name="Option"/>
          <p:cNvSpPr/>
          <p:nvPr/>
        </p:nvSpPr>
        <p:spPr>
          <a:xfrm>
            <a:off x="621792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4593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Allergy</a:t>
            </a:r>
            <a:endParaRPr lang="en-US" sz="1400" dirty="0"/>
          </a:p>
        </p:txBody>
      </p:sp>
      <p:sp>
        <p:nvSpPr>
          <p:cNvPr id="20" name="Option"/>
          <p:cNvSpPr/>
          <p:nvPr/>
        </p:nvSpPr>
        <p:spPr>
          <a:xfrm>
            <a:off x="894283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7084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Constipation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Q3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child eating goes silent and cannot breathe or cough. This is…</a:t>
            </a:r>
            <a:endParaRPr lang="en-US" sz="1600" dirty="0"/>
          </a:p>
        </p:txBody>
      </p:sp>
      <p:sp>
        <p:nvSpPr>
          <p:cNvPr id="23" name="Option"/>
          <p:cNvSpPr/>
          <p:nvPr/>
        </p:nvSpPr>
        <p:spPr>
          <a:xfrm>
            <a:off x="54864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Gagging</a:t>
            </a:r>
            <a:endParaRPr lang="en-US" sz="1400" dirty="0"/>
          </a:p>
        </p:txBody>
      </p:sp>
      <p:sp>
        <p:nvSpPr>
          <p:cNvPr id="25" name="Option"/>
          <p:cNvSpPr/>
          <p:nvPr/>
        </p:nvSpPr>
        <p:spPr>
          <a:xfrm>
            <a:off x="327355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0156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Choking</a:t>
            </a:r>
            <a:endParaRPr lang="en-US" sz="1400" dirty="0"/>
          </a:p>
        </p:txBody>
      </p:sp>
      <p:sp>
        <p:nvSpPr>
          <p:cNvPr id="27" name="Option"/>
          <p:cNvSpPr/>
          <p:nvPr/>
        </p:nvSpPr>
        <p:spPr>
          <a:xfrm>
            <a:off x="54864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Normal swallowing</a:t>
            </a:r>
            <a:endParaRPr lang="en-US" sz="1400" dirty="0"/>
          </a:p>
        </p:txBody>
      </p:sp>
      <p:sp>
        <p:nvSpPr>
          <p:cNvPr id="29" name="Option"/>
          <p:cNvSpPr/>
          <p:nvPr/>
        </p:nvSpPr>
        <p:spPr>
          <a:xfrm>
            <a:off x="327355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0156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Hiccups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21792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Q4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Cow’s milk should not be the main drink before…</a:t>
            </a:r>
            <a:endParaRPr lang="en-US" sz="1600" dirty="0"/>
          </a:p>
        </p:txBody>
      </p:sp>
      <p:sp>
        <p:nvSpPr>
          <p:cNvPr id="32" name="Option"/>
          <p:cNvSpPr/>
          <p:nvPr/>
        </p:nvSpPr>
        <p:spPr>
          <a:xfrm>
            <a:off x="621792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4593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 months</a:t>
            </a:r>
            <a:endParaRPr lang="en-US" sz="1400" dirty="0"/>
          </a:p>
        </p:txBody>
      </p:sp>
      <p:sp>
        <p:nvSpPr>
          <p:cNvPr id="34" name="Option"/>
          <p:cNvSpPr/>
          <p:nvPr/>
        </p:nvSpPr>
        <p:spPr>
          <a:xfrm>
            <a:off x="894283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07084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6 months</a:t>
            </a:r>
            <a:endParaRPr lang="en-US" sz="1400" dirty="0"/>
          </a:p>
        </p:txBody>
      </p:sp>
      <p:sp>
        <p:nvSpPr>
          <p:cNvPr id="36" name="Option"/>
          <p:cNvSpPr/>
          <p:nvPr/>
        </p:nvSpPr>
        <p:spPr>
          <a:xfrm>
            <a:off x="621792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34593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9 months</a:t>
            </a:r>
            <a:endParaRPr lang="en-US" sz="1400" dirty="0"/>
          </a:p>
        </p:txBody>
      </p:sp>
      <p:sp>
        <p:nvSpPr>
          <p:cNvPr id="38" name="Option"/>
          <p:cNvSpPr/>
          <p:nvPr/>
        </p:nvSpPr>
        <p:spPr>
          <a:xfrm>
            <a:off x="894283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07084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months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PART 4 · WEANING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check: answers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Q1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Complementary feeding should begin at approximately…</a:t>
            </a:r>
            <a:endParaRPr lang="en-US" sz="1600" dirty="0"/>
          </a:p>
        </p:txBody>
      </p:sp>
      <p:sp>
        <p:nvSpPr>
          <p:cNvPr id="5" name="Option"/>
          <p:cNvSpPr/>
          <p:nvPr/>
        </p:nvSpPr>
        <p:spPr>
          <a:xfrm>
            <a:off x="54864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 months</a:t>
            </a:r>
            <a:endParaRPr lang="en-US" sz="1400" dirty="0"/>
          </a:p>
        </p:txBody>
      </p:sp>
      <p:sp>
        <p:nvSpPr>
          <p:cNvPr id="7" name="Option"/>
          <p:cNvSpPr/>
          <p:nvPr/>
        </p:nvSpPr>
        <p:spPr>
          <a:xfrm>
            <a:off x="327355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156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 months</a:t>
            </a:r>
            <a:endParaRPr lang="en-US" sz="1400" dirty="0"/>
          </a:p>
        </p:txBody>
      </p:sp>
      <p:sp>
        <p:nvSpPr>
          <p:cNvPr id="9" name="Option"/>
          <p:cNvSpPr/>
          <p:nvPr/>
        </p:nvSpPr>
        <p:spPr>
          <a:xfrm>
            <a:off x="54864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6 months</a:t>
            </a:r>
            <a:endParaRPr lang="en-US" sz="1400" dirty="0"/>
          </a:p>
        </p:txBody>
      </p:sp>
      <p:sp>
        <p:nvSpPr>
          <p:cNvPr id="11" name="Option"/>
          <p:cNvSpPr/>
          <p:nvPr/>
        </p:nvSpPr>
        <p:spPr>
          <a:xfrm>
            <a:off x="327355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months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2278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At approximately 6 months of age.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Q2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Honey is avoided before 12 months because of…</a:t>
            </a:r>
            <a:endParaRPr lang="en-US" sz="1600" dirty="0"/>
          </a:p>
        </p:txBody>
      </p:sp>
      <p:sp>
        <p:nvSpPr>
          <p:cNvPr id="15" name="Option"/>
          <p:cNvSpPr/>
          <p:nvPr/>
        </p:nvSpPr>
        <p:spPr>
          <a:xfrm>
            <a:off x="621792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4593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Tooth decay</a:t>
            </a:r>
            <a:endParaRPr lang="en-US" sz="1400" dirty="0"/>
          </a:p>
        </p:txBody>
      </p:sp>
      <p:sp>
        <p:nvSpPr>
          <p:cNvPr id="17" name="Option"/>
          <p:cNvSpPr/>
          <p:nvPr/>
        </p:nvSpPr>
        <p:spPr>
          <a:xfrm>
            <a:off x="894283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7084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Infant botulism</a:t>
            </a:r>
            <a:endParaRPr lang="en-US" sz="1400" dirty="0"/>
          </a:p>
        </p:txBody>
      </p:sp>
      <p:sp>
        <p:nvSpPr>
          <p:cNvPr id="19" name="Option"/>
          <p:cNvSpPr/>
          <p:nvPr/>
        </p:nvSpPr>
        <p:spPr>
          <a:xfrm>
            <a:off x="621792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4593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Allergy</a:t>
            </a:r>
            <a:endParaRPr lang="en-US" sz="1400" dirty="0"/>
          </a:p>
        </p:txBody>
      </p:sp>
      <p:sp>
        <p:nvSpPr>
          <p:cNvPr id="21" name="Option"/>
          <p:cNvSpPr/>
          <p:nvPr/>
        </p:nvSpPr>
        <p:spPr>
          <a:xfrm>
            <a:off x="894283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07084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Constipation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2278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Honey before 12 months → risk of infant botulism.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Q3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child eating goes silent and cannot breathe or cough. This is…</a:t>
            </a:r>
            <a:endParaRPr lang="en-US" sz="1600" dirty="0"/>
          </a:p>
        </p:txBody>
      </p:sp>
      <p:sp>
        <p:nvSpPr>
          <p:cNvPr id="25" name="Option"/>
          <p:cNvSpPr/>
          <p:nvPr/>
        </p:nvSpPr>
        <p:spPr>
          <a:xfrm>
            <a:off x="54864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Gagging</a:t>
            </a:r>
            <a:endParaRPr lang="en-US" sz="1400" dirty="0"/>
          </a:p>
        </p:txBody>
      </p:sp>
      <p:sp>
        <p:nvSpPr>
          <p:cNvPr id="27" name="Option"/>
          <p:cNvSpPr/>
          <p:nvPr/>
        </p:nvSpPr>
        <p:spPr>
          <a:xfrm>
            <a:off x="327355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0156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Choking</a:t>
            </a:r>
            <a:endParaRPr lang="en-US" sz="1400" dirty="0"/>
          </a:p>
        </p:txBody>
      </p:sp>
      <p:sp>
        <p:nvSpPr>
          <p:cNvPr id="29" name="Option"/>
          <p:cNvSpPr/>
          <p:nvPr/>
        </p:nvSpPr>
        <p:spPr>
          <a:xfrm>
            <a:off x="54864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665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Normal swallowing</a:t>
            </a:r>
            <a:endParaRPr lang="en-US" sz="1400" dirty="0"/>
          </a:p>
        </p:txBody>
      </p:sp>
      <p:sp>
        <p:nvSpPr>
          <p:cNvPr id="31" name="Option"/>
          <p:cNvSpPr/>
          <p:nvPr/>
        </p:nvSpPr>
        <p:spPr>
          <a:xfrm>
            <a:off x="327355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Hiccups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Choking may be silent; gagging is noisy and protective.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21792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Q4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Cow’s milk should not be the main drink before…</a:t>
            </a:r>
            <a:endParaRPr lang="en-US" sz="1600" dirty="0"/>
          </a:p>
        </p:txBody>
      </p:sp>
      <p:sp>
        <p:nvSpPr>
          <p:cNvPr id="35" name="Option"/>
          <p:cNvSpPr/>
          <p:nvPr/>
        </p:nvSpPr>
        <p:spPr>
          <a:xfrm>
            <a:off x="621792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4593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 months</a:t>
            </a:r>
            <a:endParaRPr lang="en-US" sz="1400" dirty="0"/>
          </a:p>
        </p:txBody>
      </p:sp>
      <p:sp>
        <p:nvSpPr>
          <p:cNvPr id="37" name="Option"/>
          <p:cNvSpPr/>
          <p:nvPr/>
        </p:nvSpPr>
        <p:spPr>
          <a:xfrm>
            <a:off x="894283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07084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6 months</a:t>
            </a:r>
            <a:endParaRPr lang="en-US" sz="1400" dirty="0"/>
          </a:p>
        </p:txBody>
      </p:sp>
      <p:sp>
        <p:nvSpPr>
          <p:cNvPr id="39" name="Option"/>
          <p:cNvSpPr/>
          <p:nvPr/>
        </p:nvSpPr>
        <p:spPr>
          <a:xfrm>
            <a:off x="621792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4593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9 months</a:t>
            </a:r>
            <a:endParaRPr lang="en-US" sz="1400" dirty="0"/>
          </a:p>
        </p:txBody>
      </p:sp>
      <p:sp>
        <p:nvSpPr>
          <p:cNvPr id="41" name="Option"/>
          <p:cNvSpPr/>
          <p:nvPr/>
        </p:nvSpPr>
        <p:spPr>
          <a:xfrm>
            <a:off x="894283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07084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months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217920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Not as the main drink before 12 months.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Role of the nurse</a:t>
            </a:r>
            <a:endParaRPr lang="en-US" sz="3600" dirty="0"/>
          </a:p>
        </p:txBody>
      </p:sp>
      <p:sp>
        <p:nvSpPr>
          <p:cNvPr id="4" name="Connector"/>
          <p:cNvSpPr/>
          <p:nvPr/>
        </p:nvSpPr>
        <p:spPr>
          <a:xfrm flipV="1">
            <a:off x="4663440" y="2039112"/>
            <a:ext cx="381305" cy="1847088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5" name="Card"/>
          <p:cNvSpPr/>
          <p:nvPr/>
        </p:nvSpPr>
        <p:spPr>
          <a:xfrm>
            <a:off x="548640" y="169164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Part dot"/>
          <p:cNvSpPr/>
          <p:nvPr/>
        </p:nvSpPr>
        <p:spPr>
          <a:xfrm>
            <a:off x="731520" y="1956816"/>
            <a:ext cx="164592" cy="164592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169164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Assess nutritional status and growth.</a:t>
            </a:r>
            <a:endParaRPr lang="en-US" sz="1500" dirty="0"/>
          </a:p>
        </p:txBody>
      </p:sp>
      <p:sp>
        <p:nvSpPr>
          <p:cNvPr id="8" name="Connector"/>
          <p:cNvSpPr/>
          <p:nvPr/>
        </p:nvSpPr>
        <p:spPr>
          <a:xfrm flipV="1">
            <a:off x="4663440" y="2907792"/>
            <a:ext cx="381305" cy="978408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9" name="Card"/>
          <p:cNvSpPr/>
          <p:nvPr/>
        </p:nvSpPr>
        <p:spPr>
          <a:xfrm>
            <a:off x="548640" y="256032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0" name="Part dot"/>
          <p:cNvSpPr/>
          <p:nvPr/>
        </p:nvSpPr>
        <p:spPr>
          <a:xfrm>
            <a:off x="731520" y="2825496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256032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Educate parents about breastfeeding.</a:t>
            </a:r>
            <a:endParaRPr lang="en-US" sz="1500" dirty="0"/>
          </a:p>
        </p:txBody>
      </p:sp>
      <p:sp>
        <p:nvSpPr>
          <p:cNvPr id="12" name="Connector"/>
          <p:cNvSpPr/>
          <p:nvPr/>
        </p:nvSpPr>
        <p:spPr>
          <a:xfrm flipV="1">
            <a:off x="4663440" y="3776472"/>
            <a:ext cx="381305" cy="109728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13" name="Card"/>
          <p:cNvSpPr/>
          <p:nvPr/>
        </p:nvSpPr>
        <p:spPr>
          <a:xfrm>
            <a:off x="548640" y="342900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4" name="Part dot"/>
          <p:cNvSpPr/>
          <p:nvPr/>
        </p:nvSpPr>
        <p:spPr>
          <a:xfrm>
            <a:off x="731520" y="3694176"/>
            <a:ext cx="164592" cy="16459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342900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Teach safe formula preparation.</a:t>
            </a:r>
            <a:endParaRPr lang="en-US" sz="1500" dirty="0"/>
          </a:p>
        </p:txBody>
      </p:sp>
      <p:sp>
        <p:nvSpPr>
          <p:cNvPr id="16" name="Connector"/>
          <p:cNvSpPr/>
          <p:nvPr/>
        </p:nvSpPr>
        <p:spPr>
          <a:xfrm>
            <a:off x="4663440" y="3886200"/>
            <a:ext cx="381305" cy="758952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17" name="Card"/>
          <p:cNvSpPr/>
          <p:nvPr/>
        </p:nvSpPr>
        <p:spPr>
          <a:xfrm>
            <a:off x="548640" y="429768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8" name="Part dot"/>
          <p:cNvSpPr/>
          <p:nvPr/>
        </p:nvSpPr>
        <p:spPr>
          <a:xfrm>
            <a:off x="731520" y="4562856"/>
            <a:ext cx="164592" cy="16459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05840" y="429768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Teach safe bottle feeding.</a:t>
            </a:r>
            <a:endParaRPr lang="en-US" sz="1500" dirty="0"/>
          </a:p>
        </p:txBody>
      </p:sp>
      <p:sp>
        <p:nvSpPr>
          <p:cNvPr id="20" name="Connector"/>
          <p:cNvSpPr/>
          <p:nvPr/>
        </p:nvSpPr>
        <p:spPr>
          <a:xfrm>
            <a:off x="4663440" y="3886200"/>
            <a:ext cx="381305" cy="1627632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21" name="Card"/>
          <p:cNvSpPr/>
          <p:nvPr/>
        </p:nvSpPr>
        <p:spPr>
          <a:xfrm>
            <a:off x="548640" y="516636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2" name="Part dot"/>
          <p:cNvSpPr/>
          <p:nvPr/>
        </p:nvSpPr>
        <p:spPr>
          <a:xfrm>
            <a:off x="731520" y="5431536"/>
            <a:ext cx="164592" cy="16459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05840" y="516636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Ensure safe NG feeding.</a:t>
            </a:r>
            <a:endParaRPr lang="en-US" sz="1500" dirty="0"/>
          </a:p>
        </p:txBody>
      </p:sp>
      <p:sp>
        <p:nvSpPr>
          <p:cNvPr id="24" name="Connector"/>
          <p:cNvSpPr/>
          <p:nvPr/>
        </p:nvSpPr>
        <p:spPr>
          <a:xfrm>
            <a:off x="7147865" y="2039112"/>
            <a:ext cx="395935" cy="1847088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25" name="Card"/>
          <p:cNvSpPr/>
          <p:nvPr/>
        </p:nvSpPr>
        <p:spPr>
          <a:xfrm>
            <a:off x="7543800" y="169164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Part dot"/>
          <p:cNvSpPr/>
          <p:nvPr/>
        </p:nvSpPr>
        <p:spPr>
          <a:xfrm>
            <a:off x="7726680" y="1956816"/>
            <a:ext cx="164592" cy="164592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01000" y="169164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Monitor feeding tolerance.</a:t>
            </a:r>
            <a:endParaRPr lang="en-US" sz="1500" dirty="0"/>
          </a:p>
        </p:txBody>
      </p:sp>
      <p:sp>
        <p:nvSpPr>
          <p:cNvPr id="28" name="Connector"/>
          <p:cNvSpPr/>
          <p:nvPr/>
        </p:nvSpPr>
        <p:spPr>
          <a:xfrm>
            <a:off x="7147865" y="2907792"/>
            <a:ext cx="395935" cy="978408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29" name="Card"/>
          <p:cNvSpPr/>
          <p:nvPr/>
        </p:nvSpPr>
        <p:spPr>
          <a:xfrm>
            <a:off x="7543800" y="256032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0" name="Part dot"/>
          <p:cNvSpPr/>
          <p:nvPr/>
        </p:nvSpPr>
        <p:spPr>
          <a:xfrm>
            <a:off x="7726680" y="2825496"/>
            <a:ext cx="164592" cy="16459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001000" y="256032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Identify signs of aspiration.</a:t>
            </a:r>
            <a:endParaRPr lang="en-US" sz="1500" dirty="0"/>
          </a:p>
        </p:txBody>
      </p:sp>
      <p:sp>
        <p:nvSpPr>
          <p:cNvPr id="32" name="Connector"/>
          <p:cNvSpPr/>
          <p:nvPr/>
        </p:nvSpPr>
        <p:spPr>
          <a:xfrm>
            <a:off x="7147865" y="3776472"/>
            <a:ext cx="395935" cy="109728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33" name="Card"/>
          <p:cNvSpPr/>
          <p:nvPr/>
        </p:nvSpPr>
        <p:spPr>
          <a:xfrm>
            <a:off x="7543800" y="342900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4" name="Part dot"/>
          <p:cNvSpPr/>
          <p:nvPr/>
        </p:nvSpPr>
        <p:spPr>
          <a:xfrm>
            <a:off x="7726680" y="3694176"/>
            <a:ext cx="164592" cy="164592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001000" y="342900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Monitor weight and development.</a:t>
            </a:r>
            <a:endParaRPr lang="en-US" sz="1500" dirty="0"/>
          </a:p>
        </p:txBody>
      </p:sp>
      <p:sp>
        <p:nvSpPr>
          <p:cNvPr id="36" name="Connector"/>
          <p:cNvSpPr/>
          <p:nvPr/>
        </p:nvSpPr>
        <p:spPr>
          <a:xfrm flipV="1">
            <a:off x="7147865" y="3886200"/>
            <a:ext cx="395935" cy="758952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37" name="Card"/>
          <p:cNvSpPr/>
          <p:nvPr/>
        </p:nvSpPr>
        <p:spPr>
          <a:xfrm>
            <a:off x="7543800" y="429768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8" name="Part dot"/>
          <p:cNvSpPr/>
          <p:nvPr/>
        </p:nvSpPr>
        <p:spPr>
          <a:xfrm>
            <a:off x="7726680" y="4562856"/>
            <a:ext cx="164592" cy="16459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001000" y="429768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Educate caregivers about complementary feeding.</a:t>
            </a:r>
            <a:endParaRPr lang="en-US" sz="1500" dirty="0"/>
          </a:p>
        </p:txBody>
      </p:sp>
      <p:sp>
        <p:nvSpPr>
          <p:cNvPr id="40" name="Connector"/>
          <p:cNvSpPr/>
          <p:nvPr/>
        </p:nvSpPr>
        <p:spPr>
          <a:xfrm flipV="1">
            <a:off x="7147865" y="3886200"/>
            <a:ext cx="395935" cy="1627632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41" name="Card"/>
          <p:cNvSpPr/>
          <p:nvPr/>
        </p:nvSpPr>
        <p:spPr>
          <a:xfrm>
            <a:off x="7543800" y="516636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42" name="Part dot"/>
          <p:cNvSpPr/>
          <p:nvPr/>
        </p:nvSpPr>
        <p:spPr>
          <a:xfrm>
            <a:off x="7726680" y="5431536"/>
            <a:ext cx="164592" cy="16459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001000" y="516636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Promote hygiene and food safety.</a:t>
            </a:r>
            <a:endParaRPr lang="en-US" sz="1500" dirty="0"/>
          </a:p>
        </p:txBody>
      </p:sp>
      <p:sp>
        <p:nvSpPr>
          <p:cNvPr id="44" name="Nurse hub"/>
          <p:cNvSpPr/>
          <p:nvPr/>
        </p:nvSpPr>
        <p:spPr>
          <a:xfrm>
            <a:off x="5044745" y="2834640"/>
            <a:ext cx="2103120" cy="2103120"/>
          </a:xfrm>
          <a:prstGeom prst="ellipse">
            <a:avLst/>
          </a:prstGeom>
          <a:solidFill>
            <a:schemeClr val="accent5"/>
          </a:solidFill>
          <a:ln w="101600">
            <a:solidFill>
              <a:schemeClr val="accent5">
                <a:alpha val="25000"/>
              </a:schemeClr>
            </a:solidFill>
            <a:prstDash val="solid"/>
          </a:ln>
        </p:spPr>
      </p:sp>
      <p:pic>
        <p:nvPicPr>
          <p:cNvPr id="45" name="Image 0" descr="Nu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0545" y="3108960"/>
            <a:ext cx="731520" cy="731520"/>
          </a:xfrm>
          <a:prstGeom prst="rect">
            <a:avLst/>
          </a:prstGeom>
        </p:spPr>
      </p:pic>
      <p:sp>
        <p:nvSpPr>
          <p:cNvPr id="46" name="Text 43"/>
          <p:cNvSpPr txBox="1"/>
          <p:nvPr/>
        </p:nvSpPr>
        <p:spPr>
          <a:xfrm>
            <a:off x="5090465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The nurse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Case studies: what would you do?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440680" cy="2267712"/>
          </a:xfrm>
          <a:prstGeom prst="roundRect">
            <a:avLst>
              <a:gd name="adj" fmla="val 483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276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CASE 1 · BREASTFEEDING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6596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mother has painful, cracked nipples. The baby takes only the nipple into the mouth.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6324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4B636B"/>
                </a:solidFill>
              </a:rPr>
              <a:t>What is the problem? What will you teach?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6217920" y="1463040"/>
            <a:ext cx="5440680" cy="2267712"/>
          </a:xfrm>
          <a:prstGeom prst="roundRect">
            <a:avLst>
              <a:gd name="adj" fmla="val 483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46520" y="16276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CASE 2 · ARTIFICIAL FEEDING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196596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father adds an extra scoop of powder to every bottle “so the baby grows faster”.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306324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4B636B"/>
                </a:solidFill>
              </a:rPr>
              <a:t>What is the risk? What do you teach?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548640" y="3913632"/>
            <a:ext cx="5440680" cy="2267712"/>
          </a:xfrm>
          <a:prstGeom prst="roundRect">
            <a:avLst>
              <a:gd name="adj" fmla="val 483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40782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CASE 3 · NG TUBE FEEDING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416552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During an NG feed, the infant starts coughing and becomes cyanosed.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51383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4B636B"/>
                </a:solidFill>
              </a:rPr>
              <a:t>First action? Which complication do you fear most?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6217920" y="3913632"/>
            <a:ext cx="5440680" cy="2267712"/>
          </a:xfrm>
          <a:prstGeom prst="roundRect">
            <a:avLst>
              <a:gd name="adj" fmla="val 483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46520" y="40782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CASE 4 · WEANING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4416552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mother gives her 8-month-old honey on bread and whole grapes, and leaves the baby eating alone.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551383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4B636B"/>
                </a:solidFill>
              </a:rPr>
              <a:t>How many hazards can you find?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Case studies: answers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440680" cy="2267712"/>
          </a:xfrm>
          <a:prstGeom prst="roundRect">
            <a:avLst>
              <a:gd name="adj" fmla="val 483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276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CASE 1 · BREASTFEEDING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Poor latch.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70048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Comfortable position · head and body in a straight line · baby close · wide-open mouth · nipple and much of the areola · observe sucking and swallowing.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6217920" y="1463040"/>
            <a:ext cx="5440680" cy="2267712"/>
          </a:xfrm>
          <a:prstGeom prst="roundRect">
            <a:avLst>
              <a:gd name="adj" fmla="val 483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46520" y="16276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CASE 2 · ARTIFICIAL FEEDING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1920240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Dehydration or electrolyte disturbances.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670048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Follow the manufacturer’s exact ratio · measure accurately · do not add extra powder.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548640" y="3913632"/>
            <a:ext cx="5440680" cy="2267712"/>
          </a:xfrm>
          <a:prstGeom prst="roundRect">
            <a:avLst>
              <a:gd name="adj" fmla="val 483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40782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CASE 3 · NG TUBE FEEDING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370832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F2A2A"/>
                </a:solidFill>
              </a:rPr>
              <a:t>Stop feeding. Fear aspiration.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120640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Never restart while placement is uncertain · document the feeding and the infant’s response.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6217920" y="3913632"/>
            <a:ext cx="5440680" cy="2267712"/>
          </a:xfrm>
          <a:prstGeom prst="roundRect">
            <a:avLst>
              <a:gd name="adj" fmla="val 483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46520" y="40782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CASE 4 · WEANING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4370832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 hazards: honey, whole grapes, left alone.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5120640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 honey before 12 months · prepare choking hazards safely · sit upright, supervised, never alone.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things to remember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508760"/>
            <a:ext cx="2606040" cy="457200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777240" y="1737360"/>
            <a:ext cx="822960" cy="82296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6" name="Image 0" descr="dro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9019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697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Breastfeeding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5661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Breast milk only for the first 6 months. Colostrum should not be discarded. Good latch → less pain + effective milk transfer.</a:t>
            </a:r>
            <a:endParaRPr lang="en-US" sz="1600" dirty="0"/>
          </a:p>
        </p:txBody>
      </p:sp>
      <p:sp>
        <p:nvSpPr>
          <p:cNvPr id="9" name="Card"/>
          <p:cNvSpPr/>
          <p:nvPr/>
        </p:nvSpPr>
        <p:spPr>
          <a:xfrm>
            <a:off x="3346704" y="1508760"/>
            <a:ext cx="2606040" cy="457200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3575304" y="1737360"/>
            <a:ext cx="822960" cy="82296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1" name="Image 1" descr="bottl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896" y="1901952"/>
            <a:ext cx="493776" cy="49377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75304" y="2697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Artificial feeding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3575304" y="35661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Exact water-to-powder ratio. Semi-upright. Never prop the bottle and leave the infant alone.</a:t>
            </a:r>
            <a:endParaRPr lang="en-US" sz="1600" dirty="0"/>
          </a:p>
        </p:txBody>
      </p:sp>
      <p:sp>
        <p:nvSpPr>
          <p:cNvPr id="14" name="Card"/>
          <p:cNvSpPr/>
          <p:nvPr/>
        </p:nvSpPr>
        <p:spPr>
          <a:xfrm>
            <a:off x="6144768" y="1508760"/>
            <a:ext cx="2606040" cy="457200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373368" y="1737360"/>
            <a:ext cx="822960" cy="82296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16" name="Image 2" descr="tub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901952"/>
            <a:ext cx="493776" cy="49377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73368" y="2697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NG tube feeding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6373368" y="35661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Never feed if tube placement is uncertain. Most serious complication: aspiration.</a:t>
            </a:r>
            <a:endParaRPr lang="en-US" sz="1600" dirty="0"/>
          </a:p>
        </p:txBody>
      </p:sp>
      <p:sp>
        <p:nvSpPr>
          <p:cNvPr id="19" name="Card"/>
          <p:cNvSpPr/>
          <p:nvPr/>
        </p:nvSpPr>
        <p:spPr>
          <a:xfrm>
            <a:off x="8942832" y="1508760"/>
            <a:ext cx="2606040" cy="457200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0" name="Icon circle"/>
          <p:cNvSpPr/>
          <p:nvPr/>
        </p:nvSpPr>
        <p:spPr>
          <a:xfrm>
            <a:off x="9171432" y="1737360"/>
            <a:ext cx="822960" cy="8229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21" name="Image 3" descr="spoon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6024" y="1901952"/>
            <a:ext cx="493776" cy="49377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171432" y="2697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Weaning</a:t>
            </a:r>
            <a:endParaRPr lang="en-US" sz="1900" dirty="0"/>
          </a:p>
        </p:txBody>
      </p:sp>
      <p:sp>
        <p:nvSpPr>
          <p:cNvPr id="23" name="Text 17"/>
          <p:cNvSpPr txBox="1"/>
          <p:nvPr/>
        </p:nvSpPr>
        <p:spPr>
          <a:xfrm>
            <a:off x="9171432" y="35661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Start around 6 months, continue breastfeeding, never leave the child alone while eating.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CLOSE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Questions?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4B636B"/>
                </a:solidFill>
              </a:rPr>
              <a:t>Before you leave, complete the exit ticket on a slip of paper.</a:t>
            </a:r>
            <a:endParaRPr lang="en-US" sz="2000" dirty="0"/>
          </a:p>
        </p:txBody>
      </p:sp>
      <p:sp>
        <p:nvSpPr>
          <p:cNvPr id="5" name="Exit ticket"/>
          <p:cNvSpPr/>
          <p:nvPr/>
        </p:nvSpPr>
        <p:spPr>
          <a:xfrm>
            <a:off x="548640" y="2377440"/>
            <a:ext cx="5440680" cy="2560320"/>
          </a:xfrm>
          <a:prstGeom prst="roundRect">
            <a:avLst>
              <a:gd name="adj" fmla="val 5357"/>
            </a:avLst>
          </a:prstGeom>
          <a:solidFill>
            <a:schemeClr val="bg1"/>
          </a:solidFill>
          <a:ln w="19050">
            <a:solidFill>
              <a:schemeClr val="accent5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914400" y="2651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5"/>
                </a:solidFill>
              </a:rPr>
              <a:t>1</a:t>
            </a:r>
            <a:endParaRPr lang="en-US" sz="7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8862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thing you learned today</a:t>
            </a:r>
            <a:endParaRPr lang="en-US" sz="2400" dirty="0"/>
          </a:p>
        </p:txBody>
      </p:sp>
      <p:sp>
        <p:nvSpPr>
          <p:cNvPr id="8" name="Exit ticket"/>
          <p:cNvSpPr/>
          <p:nvPr/>
        </p:nvSpPr>
        <p:spPr>
          <a:xfrm>
            <a:off x="6217920" y="2377440"/>
            <a:ext cx="5440680" cy="2560320"/>
          </a:xfrm>
          <a:prstGeom prst="roundRect">
            <a:avLst>
              <a:gd name="adj" fmla="val 5357"/>
            </a:avLst>
          </a:prstGeom>
          <a:solidFill>
            <a:schemeClr val="bg1"/>
          </a:solidFill>
          <a:ln w="19050">
            <a:solidFill>
              <a:schemeClr val="accent5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0" y="2651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5"/>
                </a:solidFill>
              </a:rPr>
              <a:t>1</a:t>
            </a:r>
            <a:endParaRPr lang="en-US" sz="72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38862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question you still have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Infant Feeding">
  <a:themeElements>
    <a:clrScheme name="Infant Feeding">
      <a:dk1>
        <a:srgbClr val="11262D"/>
      </a:dk1>
      <a:lt1>
        <a:srgbClr val="FFFFFF"/>
      </a:lt1>
      <a:dk2>
        <a:srgbClr val="0B5259"/>
      </a:dk2>
      <a:lt2>
        <a:srgbClr val="EEF3F3"/>
      </a:lt2>
      <a:accent1>
        <a:srgbClr val="BC3561"/>
      </a:accent1>
      <a:accent2>
        <a:srgbClr val="2161A6"/>
      </a:accent2>
      <a:accent3>
        <a:srgbClr val="6646B9"/>
      </a:accent3>
      <a:accent4>
        <a:srgbClr val="357C30"/>
      </a:accent4>
      <a:accent5>
        <a:srgbClr val="0E6C75"/>
      </a:accent5>
      <a:accent6>
        <a:srgbClr val="BF2A2A"/>
      </a:accent6>
      <a:hlink>
        <a:srgbClr val="2161A6"/>
      </a:hlink>
      <a:folHlink>
        <a:srgbClr val="6646B9"/>
      </a:folHlink>
    </a:clrScheme>
    <a:fontScheme name="Infant Feeding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Infant and Child Feeding</dc:title>
  <dc:subject>Pediatric nursing lesson</dc:subject>
  <dc:creator>PptxGenJS</dc:creator>
  <cp:lastModifiedBy>PptxGenJS</cp:lastModifiedBy>
  <cp:revision>1</cp:revision>
  <dcterms:created xsi:type="dcterms:W3CDTF">2026-10-05T09:37:07Z</dcterms:created>
  <dcterms:modified xsi:type="dcterms:W3CDTF">2026-10-05T09:37:07Z</dcterms:modified>
</cp:coreProperties>
</file>