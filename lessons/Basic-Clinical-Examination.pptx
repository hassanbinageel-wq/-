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d15b065-c0a4-7f44-cc66-d8c7f7145da5}">
          <p14:sldIdLst>
            <p14:sldId id="256"/>
          </p14:sldIdLst>
        </p14:section>
        <p14:section name="General examination" id="{5ae84c7d-3b38-ae84-4e12-b0e323bd8d60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ardiovascular system" id="{555e4cd1-34e6-03ed-208f-df6b0b10bffc}">
          <p14:sldIdLst>
            <p14:sldId id="266"/>
            <p14:sldId id="267"/>
            <p14:sldId id="268"/>
          </p14:sldIdLst>
        </p14:section>
        <p14:section name="Respiratory system" id="{0a81c9c5-0534-5d4d-fc3e-b7b23b763826}">
          <p14:sldIdLst>
            <p14:sldId id="269"/>
            <p14:sldId id="270"/>
            <p14:sldId id="271"/>
          </p14:sldIdLst>
        </p14:section>
        <p14:section name="Abdomen" id="{d92e4b94-5ef0-743c-ee07-8c01022f2cf4}">
          <p14:sldIdLst>
            <p14:sldId id="272"/>
            <p14:sldId id="273"/>
            <p14:sldId id="274"/>
          </p14:sldIdLst>
        </p14:section>
        <p14:section name="Neurological system" id="{c230b9ac-228a-2ddf-dfa8-bb4f6be1edec}">
          <p14:sldIdLst>
            <p14:sldId id="275"/>
            <p14:sldId id="276"/>
          </p14:sldIdLst>
        </p14:section>
        <p14:section name="Close" id="{4c5475ba-7257-8fc0-40ba-92a24701cec9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636B"/>
                </a:solidFill>
              </a:rPr>
              <a:t>Basic Clinical Examination · Dr. Ruqaiah Aidaros Alhebshi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62179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CLINICAL SKILLS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chemeClr val="tx1"/>
                </a:solidFill>
              </a:rPr>
              <a:t>Basic Clinical
</a:t>
            </a:r>
            <a:pPr indent="0" marL="0">
              <a:buNone/>
            </a:pPr>
            <a:r>
              <a:rPr lang="en-US" sz="5800" b="1" dirty="0">
                <a:solidFill>
                  <a:schemeClr val="accent5"/>
                </a:solidFill>
              </a:rPr>
              <a:t>Examination</a:t>
            </a:r>
            <a:endParaRPr lang="en-US" sz="5800" dirty="0"/>
          </a:p>
        </p:txBody>
      </p:sp>
      <p:sp>
        <p:nvSpPr>
          <p:cNvPr id="4" name="Card"/>
          <p:cNvSpPr/>
          <p:nvPr/>
        </p:nvSpPr>
        <p:spPr>
          <a:xfrm>
            <a:off x="548640" y="3611880"/>
            <a:ext cx="603504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3767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636B"/>
                </a:solidFill>
              </a:rPr>
              <a:t>PRESENTED BY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0690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Dr. Ruqaiah Aidaros Alhebshi</a:t>
            </a:r>
            <a:endParaRPr lang="en-US" sz="2800" dirty="0"/>
          </a:p>
        </p:txBody>
      </p:sp>
      <p:sp>
        <p:nvSpPr>
          <p:cNvPr id="7" name="Pill"/>
          <p:cNvSpPr/>
          <p:nvPr/>
        </p:nvSpPr>
        <p:spPr>
          <a:xfrm>
            <a:off x="548640" y="5074920"/>
            <a:ext cx="2926080" cy="402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074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General physical examination</a:t>
            </a:r>
            <a:endParaRPr lang="en-US" sz="1300" dirty="0"/>
          </a:p>
        </p:txBody>
      </p:sp>
      <p:sp>
        <p:nvSpPr>
          <p:cNvPr id="9" name="Pill"/>
          <p:cNvSpPr/>
          <p:nvPr/>
        </p:nvSpPr>
        <p:spPr>
          <a:xfrm>
            <a:off x="3611880" y="5074920"/>
            <a:ext cx="1371600" cy="402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5074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Vital signs</a:t>
            </a:r>
            <a:endParaRPr lang="en-US" sz="1300" dirty="0"/>
          </a:p>
        </p:txBody>
      </p:sp>
      <p:sp>
        <p:nvSpPr>
          <p:cNvPr id="11" name="Pill"/>
          <p:cNvSpPr/>
          <p:nvPr/>
        </p:nvSpPr>
        <p:spPr>
          <a:xfrm>
            <a:off x="5120640" y="5074920"/>
            <a:ext cx="2194560" cy="402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50749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Systemic examination</a:t>
            </a:r>
            <a:endParaRPr lang="en-US" sz="1300" dirty="0"/>
          </a:p>
        </p:txBody>
      </p:sp>
      <p:pic>
        <p:nvPicPr>
          <p:cNvPr id="13" name="Illustration steth" descr="Stethosc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329222"/>
            <a:ext cx="4389120" cy="419955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GENERAL EXAMINATION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General physical examination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General examination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is a quick assessment of the patient’s overall condition before examining individual body systems.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IT STARTS WITH THE VITAL SIGNS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548640" y="3017520"/>
            <a:ext cx="2084832" cy="297180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7" name="Illustration thermo" descr="Tempera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596091"/>
            <a:ext cx="1719072" cy="112885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2578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Temperature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2798064" y="3017520"/>
            <a:ext cx="2084832" cy="297180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0" name="Illustration pulse" descr="Pul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944" y="3609389"/>
            <a:ext cx="1719072" cy="110226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98064" y="52578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Pulse</a:t>
            </a:r>
            <a:endParaRPr lang="en-US" sz="1700" dirty="0"/>
          </a:p>
        </p:txBody>
      </p:sp>
      <p:sp>
        <p:nvSpPr>
          <p:cNvPr id="12" name="Card"/>
          <p:cNvSpPr/>
          <p:nvPr/>
        </p:nvSpPr>
        <p:spPr>
          <a:xfrm>
            <a:off x="5047488" y="3017520"/>
            <a:ext cx="2084832" cy="297180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3" name="Illustration lungs" descr="Respiratory r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3429486"/>
            <a:ext cx="1719072" cy="14620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47488" y="52578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Respiratory rate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7296912" y="3017520"/>
            <a:ext cx="2084832" cy="297180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6" name="Illustration bp" descr="Blood pressu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540855"/>
            <a:ext cx="1719072" cy="123933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96912" y="52578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Blood pressure</a:t>
            </a:r>
            <a:endParaRPr lang="en-US" sz="1700" dirty="0"/>
          </a:p>
        </p:txBody>
      </p:sp>
      <p:sp>
        <p:nvSpPr>
          <p:cNvPr id="18" name="Card"/>
          <p:cNvSpPr/>
          <p:nvPr/>
        </p:nvSpPr>
        <p:spPr>
          <a:xfrm>
            <a:off x="9546336" y="3017520"/>
            <a:ext cx="2084832" cy="297180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9" name="Illustration spo2" descr="SpO₂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16" y="3575122"/>
            <a:ext cx="1719072" cy="117079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546336" y="52578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SpO₂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VITAL SIGNS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Vital signs: normal values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2084832" cy="38404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Temperature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43"/>
                </a:solidFill>
              </a:rPr>
              <a:t>36.5–37.5 °C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4048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636B"/>
                </a:solidFill>
              </a:rPr>
              <a:t>Fever ≥38 °C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B636B"/>
                </a:solidFill>
              </a:rPr>
              <a:t>Hypothermia &lt;35 °C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2798064" y="1645920"/>
            <a:ext cx="2084832" cy="38404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35224" y="18745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Pulse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25146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43"/>
                </a:solidFill>
              </a:rPr>
              <a:t>60–100 /min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84048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636B"/>
                </a:solidFill>
              </a:rPr>
              <a:t>Tachycardia &gt;100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B636B"/>
                </a:solidFill>
              </a:rPr>
              <a:t>Bradycardia &lt;60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047488" y="1645920"/>
            <a:ext cx="2084832" cy="38404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84648" y="18745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Respiratory rate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84648" y="25146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43"/>
                </a:solidFill>
              </a:rPr>
              <a:t>12–20 /min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184648" y="384048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636B"/>
                </a:solidFill>
              </a:rPr>
              <a:t>Tachypnea &gt;20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B636B"/>
                </a:solidFill>
              </a:rPr>
              <a:t>Bradypnea &lt;12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7296912" y="1645920"/>
            <a:ext cx="2084832" cy="38404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34072" y="18745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Blood pressure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434072" y="25146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43"/>
                </a:solidFill>
              </a:rPr>
              <a:t>≈ 90/60–120/80 mmHg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434072" y="384048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636B"/>
                </a:solidFill>
              </a:rPr>
              <a:t>Hypertension ≥140/90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B636B"/>
                </a:solidFill>
              </a:rPr>
              <a:t>Hypotension &lt;90/60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9546336" y="1645920"/>
            <a:ext cx="2084832" cy="38404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83496" y="18745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SpO₂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83496" y="25146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43"/>
                </a:solidFill>
              </a:rPr>
              <a:t>95–100 %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683496" y="384048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636B"/>
                </a:solidFill>
              </a:rPr>
              <a:t>Low &lt;94 %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B636B"/>
                </a:solidFill>
              </a:rPr>
              <a:t>Severe hypoxemia &lt;90 %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VITAL SIGNS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Temperature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D9822B">
              <a:alpha val="8000"/>
            </a:srgbClr>
          </a:solidFill>
          <a:ln w="9525">
            <a:solidFill>
              <a:srgbClr val="D9822B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5" name="Illustration thermo" descr="Digital thermome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75180"/>
            <a:ext cx="3931920" cy="25819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32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B636B"/>
                </a:solidFill>
              </a:rPr>
              <a:t>DIGITAL THERMOMETER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554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43"/>
                </a:solidFill>
              </a:rPr>
              <a:t>NORMAL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8288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36.5–37.5</a:t>
            </a:r>
            <a:pPr indent="0" marL="0">
              <a:buNone/>
            </a:pPr>
            <a:r>
              <a:rPr lang="en-US" sz="2000" b="1" dirty="0">
                <a:solidFill>
                  <a:srgbClr val="4B636B"/>
                </a:solidFill>
              </a:rPr>
              <a:t>  °C</a:t>
            </a:r>
            <a:endParaRPr lang="en-US" sz="1600" dirty="0"/>
          </a:p>
        </p:txBody>
      </p:sp>
      <p:sp>
        <p:nvSpPr>
          <p:cNvPr id="9" name="Scale track"/>
          <p:cNvSpPr/>
          <p:nvPr/>
        </p:nvSpPr>
        <p:spPr>
          <a:xfrm>
            <a:off x="5486400" y="3291840"/>
            <a:ext cx="6126480" cy="274320"/>
          </a:xfrm>
          <a:prstGeom prst="roundRect">
            <a:avLst>
              <a:gd name="adj" fmla="val 50000"/>
            </a:avLst>
          </a:prstGeom>
          <a:solidFill>
            <a:srgbClr val="E2EAEB"/>
          </a:solidFill>
          <a:ln/>
        </p:spPr>
      </p:sp>
      <p:sp>
        <p:nvSpPr>
          <p:cNvPr id="10" name="Zone Hypothermia"/>
          <p:cNvSpPr/>
          <p:nvPr/>
        </p:nvSpPr>
        <p:spPr>
          <a:xfrm>
            <a:off x="5486400" y="3291840"/>
            <a:ext cx="153162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24637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Hypothermia</a:t>
            </a:r>
            <a:endParaRPr lang="en-US" sz="1300" dirty="0"/>
          </a:p>
        </p:txBody>
      </p:sp>
      <p:sp>
        <p:nvSpPr>
          <p:cNvPr id="12" name="Zone Normal"/>
          <p:cNvSpPr/>
          <p:nvPr/>
        </p:nvSpPr>
        <p:spPr>
          <a:xfrm>
            <a:off x="8166735" y="3291840"/>
            <a:ext cx="765810" cy="274320"/>
          </a:xfrm>
          <a:prstGeom prst="rect">
            <a:avLst/>
          </a:prstGeom>
          <a:solidFill>
            <a:srgbClr val="1B7A4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54380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A43"/>
                </a:solidFill>
              </a:rPr>
              <a:t>Normal</a:t>
            </a:r>
            <a:endParaRPr lang="en-US" sz="1300" dirty="0"/>
          </a:p>
        </p:txBody>
      </p:sp>
      <p:sp>
        <p:nvSpPr>
          <p:cNvPr id="14" name="Zone Fever"/>
          <p:cNvSpPr/>
          <p:nvPr/>
        </p:nvSpPr>
        <p:spPr>
          <a:xfrm>
            <a:off x="9315450" y="3291840"/>
            <a:ext cx="2297430" cy="274320"/>
          </a:xfrm>
          <a:prstGeom prst="rect">
            <a:avLst/>
          </a:prstGeom>
          <a:solidFill>
            <a:srgbClr val="BF2A2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458325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2A2A"/>
                </a:solidFill>
              </a:rPr>
              <a:t>Fever</a:t>
            </a:r>
            <a:endParaRPr lang="en-US" sz="1300" dirty="0"/>
          </a:p>
        </p:txBody>
      </p:sp>
      <p:sp>
        <p:nvSpPr>
          <p:cNvPr id="16" name="Tick"/>
          <p:cNvSpPr/>
          <p:nvPr/>
        </p:nvSpPr>
        <p:spPr>
          <a:xfrm>
            <a:off x="7018020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69380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35</a:t>
            </a:r>
            <a:endParaRPr lang="en-US" sz="1200" dirty="0"/>
          </a:p>
        </p:txBody>
      </p:sp>
      <p:sp>
        <p:nvSpPr>
          <p:cNvPr id="18" name="Tick"/>
          <p:cNvSpPr/>
          <p:nvPr/>
        </p:nvSpPr>
        <p:spPr>
          <a:xfrm>
            <a:off x="8166735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18095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36.5</a:t>
            </a:r>
            <a:endParaRPr lang="en-US" sz="1200" dirty="0"/>
          </a:p>
        </p:txBody>
      </p:sp>
      <p:sp>
        <p:nvSpPr>
          <p:cNvPr id="20" name="Tick"/>
          <p:cNvSpPr/>
          <p:nvPr/>
        </p:nvSpPr>
        <p:spPr>
          <a:xfrm>
            <a:off x="8932545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83905" y="39593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37.5</a:t>
            </a:r>
            <a:endParaRPr lang="en-US" sz="1200" dirty="0"/>
          </a:p>
        </p:txBody>
      </p:sp>
      <p:sp>
        <p:nvSpPr>
          <p:cNvPr id="22" name="Tick"/>
          <p:cNvSpPr/>
          <p:nvPr/>
        </p:nvSpPr>
        <p:spPr>
          <a:xfrm>
            <a:off x="9315450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66810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38 °C</a:t>
            </a:r>
            <a:endParaRPr lang="en-US" sz="1200" dirty="0"/>
          </a:p>
        </p:txBody>
      </p:sp>
      <p:sp>
        <p:nvSpPr>
          <p:cNvPr id="24" name="Normal marker"/>
          <p:cNvSpPr/>
          <p:nvPr/>
        </p:nvSpPr>
        <p:spPr>
          <a:xfrm rot="10800000">
            <a:off x="8439912" y="3108960"/>
            <a:ext cx="219456" cy="18288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5" name="Card"/>
          <p:cNvSpPr/>
          <p:nvPr/>
        </p:nvSpPr>
        <p:spPr>
          <a:xfrm>
            <a:off x="5486400" y="4343400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6" name="Status dot"/>
          <p:cNvSpPr/>
          <p:nvPr/>
        </p:nvSpPr>
        <p:spPr>
          <a:xfrm>
            <a:off x="5669280" y="4498848"/>
            <a:ext cx="164592" cy="164592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989320" y="434340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Normal: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36.5–37.5 °C</a:t>
            </a:r>
            <a:endParaRPr lang="en-US" sz="1600" dirty="0"/>
          </a:p>
        </p:txBody>
      </p:sp>
      <p:sp>
        <p:nvSpPr>
          <p:cNvPr id="28" name="Card"/>
          <p:cNvSpPr/>
          <p:nvPr/>
        </p:nvSpPr>
        <p:spPr>
          <a:xfrm>
            <a:off x="5486400" y="4910328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9" name="Status dot"/>
          <p:cNvSpPr/>
          <p:nvPr/>
        </p:nvSpPr>
        <p:spPr>
          <a:xfrm>
            <a:off x="5669280" y="5065776"/>
            <a:ext cx="164592" cy="164592"/>
          </a:xfrm>
          <a:prstGeom prst="ellipse">
            <a:avLst/>
          </a:prstGeom>
          <a:solidFill>
            <a:srgbClr val="BF2A2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989320" y="49103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Fever: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≥38 °C</a:t>
            </a:r>
            <a:endParaRPr lang="en-US" sz="1600" dirty="0"/>
          </a:p>
        </p:txBody>
      </p:sp>
      <p:sp>
        <p:nvSpPr>
          <p:cNvPr id="31" name="Card"/>
          <p:cNvSpPr/>
          <p:nvPr/>
        </p:nvSpPr>
        <p:spPr>
          <a:xfrm>
            <a:off x="5486400" y="5477256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2" name="Status dot"/>
          <p:cNvSpPr/>
          <p:nvPr/>
        </p:nvSpPr>
        <p:spPr>
          <a:xfrm>
            <a:off x="5669280" y="563270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989320" y="547725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Hypothermia: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&lt;35 °C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VITAL SIGNS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Pulse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C0342B">
              <a:alpha val="8000"/>
            </a:srgbClr>
          </a:solidFill>
          <a:ln w="9525">
            <a:solidFill>
              <a:srgbClr val="C0342B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5" name="Illustration pulse" descr="Radial pul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05594"/>
            <a:ext cx="3931920" cy="252113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32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B636B"/>
                </a:solidFill>
              </a:rPr>
              <a:t>RADIAL PULSE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554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43"/>
                </a:solidFill>
              </a:rPr>
              <a:t>NORMAL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8288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60–100</a:t>
            </a:r>
            <a:pPr indent="0" marL="0">
              <a:buNone/>
            </a:pPr>
            <a:r>
              <a:rPr lang="en-US" sz="2000" b="1" dirty="0">
                <a:solidFill>
                  <a:srgbClr val="4B636B"/>
                </a:solidFill>
              </a:rPr>
              <a:t>  beats/min</a:t>
            </a:r>
            <a:endParaRPr lang="en-US" sz="1600" dirty="0"/>
          </a:p>
        </p:txBody>
      </p:sp>
      <p:sp>
        <p:nvSpPr>
          <p:cNvPr id="9" name="Scale track"/>
          <p:cNvSpPr/>
          <p:nvPr/>
        </p:nvSpPr>
        <p:spPr>
          <a:xfrm>
            <a:off x="5486400" y="3291840"/>
            <a:ext cx="6126480" cy="274320"/>
          </a:xfrm>
          <a:prstGeom prst="roundRect">
            <a:avLst>
              <a:gd name="adj" fmla="val 50000"/>
            </a:avLst>
          </a:prstGeom>
          <a:solidFill>
            <a:srgbClr val="E2EAEB"/>
          </a:solidFill>
          <a:ln/>
        </p:spPr>
      </p:sp>
      <p:sp>
        <p:nvSpPr>
          <p:cNvPr id="10" name="Zone Bradycardia"/>
          <p:cNvSpPr/>
          <p:nvPr/>
        </p:nvSpPr>
        <p:spPr>
          <a:xfrm>
            <a:off x="5486400" y="3291840"/>
            <a:ext cx="153162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24637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Bradycardia</a:t>
            </a:r>
            <a:endParaRPr lang="en-US" sz="1300" dirty="0"/>
          </a:p>
        </p:txBody>
      </p:sp>
      <p:sp>
        <p:nvSpPr>
          <p:cNvPr id="12" name="Zone Normal"/>
          <p:cNvSpPr/>
          <p:nvPr/>
        </p:nvSpPr>
        <p:spPr>
          <a:xfrm>
            <a:off x="7018020" y="3291840"/>
            <a:ext cx="2041956" cy="274320"/>
          </a:xfrm>
          <a:prstGeom prst="rect">
            <a:avLst/>
          </a:prstGeom>
          <a:solidFill>
            <a:srgbClr val="1B7A4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033158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A43"/>
                </a:solidFill>
              </a:rPr>
              <a:t>Normal</a:t>
            </a:r>
            <a:endParaRPr lang="en-US" sz="1300" dirty="0"/>
          </a:p>
        </p:txBody>
      </p:sp>
      <p:sp>
        <p:nvSpPr>
          <p:cNvPr id="14" name="Zone Tachycardia"/>
          <p:cNvSpPr/>
          <p:nvPr/>
        </p:nvSpPr>
        <p:spPr>
          <a:xfrm>
            <a:off x="9059976" y="3291840"/>
            <a:ext cx="2552904" cy="274320"/>
          </a:xfrm>
          <a:prstGeom prst="rect">
            <a:avLst/>
          </a:prstGeom>
          <a:solidFill>
            <a:srgbClr val="BF2A2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30588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2A2A"/>
                </a:solidFill>
              </a:rPr>
              <a:t>Tachycardia</a:t>
            </a:r>
            <a:endParaRPr lang="en-US" sz="1300" dirty="0"/>
          </a:p>
        </p:txBody>
      </p:sp>
      <p:sp>
        <p:nvSpPr>
          <p:cNvPr id="16" name="Tick"/>
          <p:cNvSpPr/>
          <p:nvPr/>
        </p:nvSpPr>
        <p:spPr>
          <a:xfrm>
            <a:off x="7018020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69380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60</a:t>
            </a:r>
            <a:endParaRPr lang="en-US" sz="1200" dirty="0"/>
          </a:p>
        </p:txBody>
      </p:sp>
      <p:sp>
        <p:nvSpPr>
          <p:cNvPr id="18" name="Tick"/>
          <p:cNvSpPr/>
          <p:nvPr/>
        </p:nvSpPr>
        <p:spPr>
          <a:xfrm>
            <a:off x="9059976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11336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100 /min</a:t>
            </a:r>
            <a:endParaRPr lang="en-US" sz="1200" dirty="0"/>
          </a:p>
        </p:txBody>
      </p:sp>
      <p:sp>
        <p:nvSpPr>
          <p:cNvPr id="20" name="Normal marker"/>
          <p:cNvSpPr/>
          <p:nvPr/>
        </p:nvSpPr>
        <p:spPr>
          <a:xfrm rot="10800000">
            <a:off x="7929576" y="3108960"/>
            <a:ext cx="219456" cy="18288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1" name="Card"/>
          <p:cNvSpPr/>
          <p:nvPr/>
        </p:nvSpPr>
        <p:spPr>
          <a:xfrm>
            <a:off x="5486400" y="4343400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2" name="Status dot"/>
          <p:cNvSpPr/>
          <p:nvPr/>
        </p:nvSpPr>
        <p:spPr>
          <a:xfrm>
            <a:off x="5669280" y="4498848"/>
            <a:ext cx="164592" cy="164592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989320" y="434340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Normal: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60–100 beats/min</a:t>
            </a:r>
            <a:endParaRPr lang="en-US" sz="1600" dirty="0"/>
          </a:p>
        </p:txBody>
      </p:sp>
      <p:sp>
        <p:nvSpPr>
          <p:cNvPr id="24" name="Card"/>
          <p:cNvSpPr/>
          <p:nvPr/>
        </p:nvSpPr>
        <p:spPr>
          <a:xfrm>
            <a:off x="5486400" y="4910328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5" name="Status dot"/>
          <p:cNvSpPr/>
          <p:nvPr/>
        </p:nvSpPr>
        <p:spPr>
          <a:xfrm>
            <a:off x="5669280" y="5065776"/>
            <a:ext cx="164592" cy="164592"/>
          </a:xfrm>
          <a:prstGeom prst="ellipse">
            <a:avLst/>
          </a:prstGeom>
          <a:solidFill>
            <a:srgbClr val="BF2A2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989320" y="49103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Tachycardia: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&gt;100 beats/min</a:t>
            </a:r>
            <a:endParaRPr lang="en-US" sz="1600" dirty="0"/>
          </a:p>
        </p:txBody>
      </p:sp>
      <p:sp>
        <p:nvSpPr>
          <p:cNvPr id="27" name="Card"/>
          <p:cNvSpPr/>
          <p:nvPr/>
        </p:nvSpPr>
        <p:spPr>
          <a:xfrm>
            <a:off x="5486400" y="5477256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8" name="Status dot"/>
          <p:cNvSpPr/>
          <p:nvPr/>
        </p:nvSpPr>
        <p:spPr>
          <a:xfrm>
            <a:off x="5669280" y="563270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989320" y="547725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Bradycardia: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&lt;60 beats/min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VITAL SIGNS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Respiratory rate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1F63A8">
              <a:alpha val="8000"/>
            </a:srgbClr>
          </a:solidFill>
          <a:ln w="9525">
            <a:solidFill>
              <a:srgbClr val="1F63A8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5" name="Illustration lungs" descr="Count breaths per min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94114"/>
            <a:ext cx="3931920" cy="33440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32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B636B"/>
                </a:solidFill>
              </a:rPr>
              <a:t>COUNT BREATHS PER MINUTE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554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43"/>
                </a:solidFill>
              </a:rPr>
              <a:t>NORMAL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8288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12–20</a:t>
            </a:r>
            <a:pPr indent="0" marL="0">
              <a:buNone/>
            </a:pPr>
            <a:r>
              <a:rPr lang="en-US" sz="2000" b="1" dirty="0">
                <a:solidFill>
                  <a:srgbClr val="4B636B"/>
                </a:solidFill>
              </a:rPr>
              <a:t>  breaths/min</a:t>
            </a:r>
            <a:endParaRPr lang="en-US" sz="1600" dirty="0"/>
          </a:p>
        </p:txBody>
      </p:sp>
      <p:sp>
        <p:nvSpPr>
          <p:cNvPr id="9" name="Scale track"/>
          <p:cNvSpPr/>
          <p:nvPr/>
        </p:nvSpPr>
        <p:spPr>
          <a:xfrm>
            <a:off x="5486400" y="3291840"/>
            <a:ext cx="6126480" cy="274320"/>
          </a:xfrm>
          <a:prstGeom prst="roundRect">
            <a:avLst>
              <a:gd name="adj" fmla="val 50000"/>
            </a:avLst>
          </a:prstGeom>
          <a:solidFill>
            <a:srgbClr val="E2EAEB"/>
          </a:solidFill>
          <a:ln/>
        </p:spPr>
      </p:sp>
      <p:sp>
        <p:nvSpPr>
          <p:cNvPr id="10" name="Zone Bradypnea"/>
          <p:cNvSpPr/>
          <p:nvPr/>
        </p:nvSpPr>
        <p:spPr>
          <a:xfrm>
            <a:off x="5486400" y="3291840"/>
            <a:ext cx="153162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24637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Bradypnea</a:t>
            </a:r>
            <a:endParaRPr lang="en-US" sz="1300" dirty="0"/>
          </a:p>
        </p:txBody>
      </p:sp>
      <p:sp>
        <p:nvSpPr>
          <p:cNvPr id="12" name="Zone Normal"/>
          <p:cNvSpPr/>
          <p:nvPr/>
        </p:nvSpPr>
        <p:spPr>
          <a:xfrm>
            <a:off x="7018020" y="3291840"/>
            <a:ext cx="1531620" cy="274320"/>
          </a:xfrm>
          <a:prstGeom prst="rect">
            <a:avLst/>
          </a:prstGeom>
          <a:solidFill>
            <a:srgbClr val="1B7A4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7799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A43"/>
                </a:solidFill>
              </a:rPr>
              <a:t>Normal</a:t>
            </a:r>
            <a:endParaRPr lang="en-US" sz="1300" dirty="0"/>
          </a:p>
        </p:txBody>
      </p:sp>
      <p:sp>
        <p:nvSpPr>
          <p:cNvPr id="14" name="Zone Tachypnea"/>
          <p:cNvSpPr/>
          <p:nvPr/>
        </p:nvSpPr>
        <p:spPr>
          <a:xfrm>
            <a:off x="8549640" y="3291840"/>
            <a:ext cx="3063240" cy="274320"/>
          </a:xfrm>
          <a:prstGeom prst="rect">
            <a:avLst/>
          </a:prstGeom>
          <a:solidFill>
            <a:srgbClr val="BF2A2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07542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2A2A"/>
                </a:solidFill>
              </a:rPr>
              <a:t>Tachypnea</a:t>
            </a:r>
            <a:endParaRPr lang="en-US" sz="1300" dirty="0"/>
          </a:p>
        </p:txBody>
      </p:sp>
      <p:sp>
        <p:nvSpPr>
          <p:cNvPr id="16" name="Tick"/>
          <p:cNvSpPr/>
          <p:nvPr/>
        </p:nvSpPr>
        <p:spPr>
          <a:xfrm>
            <a:off x="7018020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69380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12</a:t>
            </a:r>
            <a:endParaRPr lang="en-US" sz="1200" dirty="0"/>
          </a:p>
        </p:txBody>
      </p:sp>
      <p:sp>
        <p:nvSpPr>
          <p:cNvPr id="18" name="Tick"/>
          <p:cNvSpPr/>
          <p:nvPr/>
        </p:nvSpPr>
        <p:spPr>
          <a:xfrm>
            <a:off x="8549640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01000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20 /min</a:t>
            </a:r>
            <a:endParaRPr lang="en-US" sz="1200" dirty="0"/>
          </a:p>
        </p:txBody>
      </p:sp>
      <p:sp>
        <p:nvSpPr>
          <p:cNvPr id="20" name="Normal marker"/>
          <p:cNvSpPr/>
          <p:nvPr/>
        </p:nvSpPr>
        <p:spPr>
          <a:xfrm rot="10800000">
            <a:off x="7674102" y="3108960"/>
            <a:ext cx="219456" cy="18288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1" name="Card"/>
          <p:cNvSpPr/>
          <p:nvPr/>
        </p:nvSpPr>
        <p:spPr>
          <a:xfrm>
            <a:off x="5486400" y="4343400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2" name="Status dot"/>
          <p:cNvSpPr/>
          <p:nvPr/>
        </p:nvSpPr>
        <p:spPr>
          <a:xfrm>
            <a:off x="5669280" y="4498848"/>
            <a:ext cx="164592" cy="164592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989320" y="434340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Normal: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12–20 breaths/min</a:t>
            </a:r>
            <a:endParaRPr lang="en-US" sz="1600" dirty="0"/>
          </a:p>
        </p:txBody>
      </p:sp>
      <p:sp>
        <p:nvSpPr>
          <p:cNvPr id="24" name="Card"/>
          <p:cNvSpPr/>
          <p:nvPr/>
        </p:nvSpPr>
        <p:spPr>
          <a:xfrm>
            <a:off x="5486400" y="4910328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5" name="Status dot"/>
          <p:cNvSpPr/>
          <p:nvPr/>
        </p:nvSpPr>
        <p:spPr>
          <a:xfrm>
            <a:off x="5669280" y="5065776"/>
            <a:ext cx="164592" cy="164592"/>
          </a:xfrm>
          <a:prstGeom prst="ellipse">
            <a:avLst/>
          </a:prstGeom>
          <a:solidFill>
            <a:srgbClr val="BF2A2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989320" y="49103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Tachypnea: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&gt;20/min</a:t>
            </a:r>
            <a:endParaRPr lang="en-US" sz="1600" dirty="0"/>
          </a:p>
        </p:txBody>
      </p:sp>
      <p:sp>
        <p:nvSpPr>
          <p:cNvPr id="27" name="Card"/>
          <p:cNvSpPr/>
          <p:nvPr/>
        </p:nvSpPr>
        <p:spPr>
          <a:xfrm>
            <a:off x="5486400" y="5477256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8" name="Status dot"/>
          <p:cNvSpPr/>
          <p:nvPr/>
        </p:nvSpPr>
        <p:spPr>
          <a:xfrm>
            <a:off x="5669280" y="563270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989320" y="547725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Bradypnea: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&lt;12/min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VITAL SIGNS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Blood pressure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6A44B8">
              <a:alpha val="8000"/>
            </a:srgbClr>
          </a:solidFill>
          <a:ln w="9525">
            <a:solidFill>
              <a:srgbClr val="6A44B8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5" name="Illustration bp" descr="Sphygmomanome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3931920" cy="2834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32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B636B"/>
                </a:solidFill>
              </a:rPr>
              <a:t>SPHYGMOMANOMETER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554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43"/>
                </a:solidFill>
              </a:rPr>
              <a:t>NORMAL ADULT BP · APPROXIMATELY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8288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90/60–120/80</a:t>
            </a:r>
            <a:pPr indent="0" marL="0">
              <a:buNone/>
            </a:pPr>
            <a:r>
              <a:rPr lang="en-US" sz="2000" b="1" dirty="0">
                <a:solidFill>
                  <a:srgbClr val="4B636B"/>
                </a:solidFill>
              </a:rPr>
              <a:t>  mmHg</a:t>
            </a:r>
            <a:endParaRPr lang="en-US" sz="1600" dirty="0"/>
          </a:p>
        </p:txBody>
      </p:sp>
      <p:sp>
        <p:nvSpPr>
          <p:cNvPr id="9" name="Scale track"/>
          <p:cNvSpPr/>
          <p:nvPr/>
        </p:nvSpPr>
        <p:spPr>
          <a:xfrm>
            <a:off x="5486400" y="3291840"/>
            <a:ext cx="6126480" cy="274320"/>
          </a:xfrm>
          <a:prstGeom prst="roundRect">
            <a:avLst>
              <a:gd name="adj" fmla="val 50000"/>
            </a:avLst>
          </a:prstGeom>
          <a:solidFill>
            <a:srgbClr val="E2EAEB"/>
          </a:solidFill>
          <a:ln/>
        </p:spPr>
      </p:sp>
      <p:sp>
        <p:nvSpPr>
          <p:cNvPr id="10" name="Zone Hypotension"/>
          <p:cNvSpPr/>
          <p:nvPr/>
        </p:nvSpPr>
        <p:spPr>
          <a:xfrm>
            <a:off x="5486400" y="3291840"/>
            <a:ext cx="1113794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37457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Hypotension</a:t>
            </a:r>
            <a:endParaRPr lang="en-US" sz="1300" dirty="0"/>
          </a:p>
        </p:txBody>
      </p:sp>
      <p:sp>
        <p:nvSpPr>
          <p:cNvPr id="12" name="Zone Normal"/>
          <p:cNvSpPr/>
          <p:nvPr/>
        </p:nvSpPr>
        <p:spPr>
          <a:xfrm>
            <a:off x="6600194" y="3291840"/>
            <a:ext cx="1670691" cy="274320"/>
          </a:xfrm>
          <a:prstGeom prst="rect">
            <a:avLst/>
          </a:prstGeom>
          <a:solidFill>
            <a:srgbClr val="1B7A4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2970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A43"/>
                </a:solidFill>
              </a:rPr>
              <a:t>Normal</a:t>
            </a:r>
            <a:endParaRPr lang="en-US" sz="1300" dirty="0"/>
          </a:p>
        </p:txBody>
      </p:sp>
      <p:sp>
        <p:nvSpPr>
          <p:cNvPr id="14" name="Zone Hypertension"/>
          <p:cNvSpPr/>
          <p:nvPr/>
        </p:nvSpPr>
        <p:spPr>
          <a:xfrm>
            <a:off x="9385292" y="3291840"/>
            <a:ext cx="2227588" cy="274320"/>
          </a:xfrm>
          <a:prstGeom prst="rect">
            <a:avLst/>
          </a:prstGeom>
          <a:solidFill>
            <a:srgbClr val="BF2A2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493246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2A2A"/>
                </a:solidFill>
              </a:rPr>
              <a:t>Hypertension</a:t>
            </a:r>
            <a:endParaRPr lang="en-US" sz="1300" dirty="0"/>
          </a:p>
        </p:txBody>
      </p:sp>
      <p:sp>
        <p:nvSpPr>
          <p:cNvPr id="16" name="Tick"/>
          <p:cNvSpPr/>
          <p:nvPr/>
        </p:nvSpPr>
        <p:spPr>
          <a:xfrm>
            <a:off x="6600194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51554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90/60</a:t>
            </a:r>
            <a:endParaRPr lang="en-US" sz="1200" dirty="0"/>
          </a:p>
        </p:txBody>
      </p:sp>
      <p:sp>
        <p:nvSpPr>
          <p:cNvPr id="18" name="Tick"/>
          <p:cNvSpPr/>
          <p:nvPr/>
        </p:nvSpPr>
        <p:spPr>
          <a:xfrm>
            <a:off x="8270885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22245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120/80</a:t>
            </a:r>
            <a:endParaRPr lang="en-US" sz="1200" dirty="0"/>
          </a:p>
        </p:txBody>
      </p:sp>
      <p:sp>
        <p:nvSpPr>
          <p:cNvPr id="20" name="Tick"/>
          <p:cNvSpPr/>
          <p:nvPr/>
        </p:nvSpPr>
        <p:spPr>
          <a:xfrm>
            <a:off x="9385292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36652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140/90</a:t>
            </a:r>
            <a:endParaRPr lang="en-US" sz="1200" dirty="0"/>
          </a:p>
        </p:txBody>
      </p:sp>
      <p:sp>
        <p:nvSpPr>
          <p:cNvPr id="22" name="Normal marker"/>
          <p:cNvSpPr/>
          <p:nvPr/>
        </p:nvSpPr>
        <p:spPr>
          <a:xfrm rot="10800000">
            <a:off x="7326118" y="3108960"/>
            <a:ext cx="219456" cy="18288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3" name="Card"/>
          <p:cNvSpPr/>
          <p:nvPr/>
        </p:nvSpPr>
        <p:spPr>
          <a:xfrm>
            <a:off x="5486400" y="4343400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4" name="Status dot"/>
          <p:cNvSpPr/>
          <p:nvPr/>
        </p:nvSpPr>
        <p:spPr>
          <a:xfrm>
            <a:off x="5669280" y="4498848"/>
            <a:ext cx="164592" cy="164592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989320" y="434340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Normal adult BP: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approximately 90/60–120/80 mmHg</a:t>
            </a:r>
            <a:endParaRPr lang="en-US" sz="1600" dirty="0"/>
          </a:p>
        </p:txBody>
      </p:sp>
      <p:sp>
        <p:nvSpPr>
          <p:cNvPr id="26" name="Card"/>
          <p:cNvSpPr/>
          <p:nvPr/>
        </p:nvSpPr>
        <p:spPr>
          <a:xfrm>
            <a:off x="5486400" y="4910328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7" name="Status dot"/>
          <p:cNvSpPr/>
          <p:nvPr/>
        </p:nvSpPr>
        <p:spPr>
          <a:xfrm>
            <a:off x="5669280" y="5065776"/>
            <a:ext cx="164592" cy="164592"/>
          </a:xfrm>
          <a:prstGeom prst="ellipse">
            <a:avLst/>
          </a:prstGeom>
          <a:solidFill>
            <a:srgbClr val="BF2A2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989320" y="49103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Hypertension: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≥140/90 mmHg</a:t>
            </a:r>
            <a:endParaRPr lang="en-US" sz="1600" dirty="0"/>
          </a:p>
        </p:txBody>
      </p:sp>
      <p:sp>
        <p:nvSpPr>
          <p:cNvPr id="29" name="Card"/>
          <p:cNvSpPr/>
          <p:nvPr/>
        </p:nvSpPr>
        <p:spPr>
          <a:xfrm>
            <a:off x="5486400" y="5477256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0" name="Status dot"/>
          <p:cNvSpPr/>
          <p:nvPr/>
        </p:nvSpPr>
        <p:spPr>
          <a:xfrm>
            <a:off x="5669280" y="563270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989320" y="547725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Hypotension: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&lt;90/60 mmHg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VITAL SIGNS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SpO₂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0E6C75">
              <a:alpha val="8000"/>
            </a:srgbClr>
          </a:solidFill>
          <a:ln w="9525">
            <a:solidFill>
              <a:srgbClr val="0E6C75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5" name="Illustration spo2" descr="Pulse oxime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27217"/>
            <a:ext cx="3931920" cy="26778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32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B636B"/>
                </a:solidFill>
              </a:rPr>
              <a:t>PULSE OXIMETER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554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43"/>
                </a:solidFill>
              </a:rPr>
              <a:t>NORMAL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8288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95–100</a:t>
            </a:r>
            <a:pPr indent="0" marL="0">
              <a:buNone/>
            </a:pPr>
            <a:r>
              <a:rPr lang="en-US" sz="2000" b="1" dirty="0">
                <a:solidFill>
                  <a:srgbClr val="4B636B"/>
                </a:solidFill>
              </a:rPr>
              <a:t>  %</a:t>
            </a:r>
            <a:endParaRPr lang="en-US" sz="1600" dirty="0"/>
          </a:p>
        </p:txBody>
      </p:sp>
      <p:sp>
        <p:nvSpPr>
          <p:cNvPr id="9" name="Scale track"/>
          <p:cNvSpPr/>
          <p:nvPr/>
        </p:nvSpPr>
        <p:spPr>
          <a:xfrm>
            <a:off x="5486400" y="3291840"/>
            <a:ext cx="6126480" cy="274320"/>
          </a:xfrm>
          <a:prstGeom prst="roundRect">
            <a:avLst>
              <a:gd name="adj" fmla="val 50000"/>
            </a:avLst>
          </a:prstGeom>
          <a:solidFill>
            <a:srgbClr val="E2EAEB"/>
          </a:solidFill>
          <a:ln/>
        </p:spPr>
      </p:sp>
      <p:sp>
        <p:nvSpPr>
          <p:cNvPr id="10" name="Zone Severe hypoxemia"/>
          <p:cNvSpPr/>
          <p:nvPr/>
        </p:nvSpPr>
        <p:spPr>
          <a:xfrm>
            <a:off x="5486400" y="3291840"/>
            <a:ext cx="3063240" cy="274320"/>
          </a:xfrm>
          <a:prstGeom prst="rect">
            <a:avLst/>
          </a:prstGeom>
          <a:solidFill>
            <a:srgbClr val="BF2A2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01218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2A2A"/>
                </a:solidFill>
              </a:rPr>
              <a:t>Severe hypoxemia</a:t>
            </a:r>
            <a:endParaRPr lang="en-US" sz="1300" dirty="0"/>
          </a:p>
        </p:txBody>
      </p:sp>
      <p:sp>
        <p:nvSpPr>
          <p:cNvPr id="12" name="Zone Low"/>
          <p:cNvSpPr/>
          <p:nvPr/>
        </p:nvSpPr>
        <p:spPr>
          <a:xfrm>
            <a:off x="8549640" y="3291840"/>
            <a:ext cx="1225296" cy="274320"/>
          </a:xfrm>
          <a:prstGeom prst="rect">
            <a:avLst/>
          </a:prstGeom>
          <a:solidFill>
            <a:srgbClr val="A1630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56448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630A"/>
                </a:solidFill>
              </a:rPr>
              <a:t>Low</a:t>
            </a:r>
            <a:endParaRPr lang="en-US" sz="1300" dirty="0"/>
          </a:p>
        </p:txBody>
      </p:sp>
      <p:sp>
        <p:nvSpPr>
          <p:cNvPr id="14" name="Zone Normal"/>
          <p:cNvSpPr/>
          <p:nvPr/>
        </p:nvSpPr>
        <p:spPr>
          <a:xfrm>
            <a:off x="10081260" y="3291840"/>
            <a:ext cx="1531620" cy="274320"/>
          </a:xfrm>
          <a:prstGeom prst="rect">
            <a:avLst/>
          </a:prstGeom>
          <a:solidFill>
            <a:srgbClr val="1B7A4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84123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A43"/>
                </a:solidFill>
              </a:rPr>
              <a:t>Normal</a:t>
            </a:r>
            <a:endParaRPr lang="en-US" sz="1300" dirty="0"/>
          </a:p>
        </p:txBody>
      </p:sp>
      <p:sp>
        <p:nvSpPr>
          <p:cNvPr id="16" name="Tick"/>
          <p:cNvSpPr/>
          <p:nvPr/>
        </p:nvSpPr>
        <p:spPr>
          <a:xfrm>
            <a:off x="8549640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90</a:t>
            </a:r>
            <a:endParaRPr lang="en-US" sz="1200" dirty="0"/>
          </a:p>
        </p:txBody>
      </p:sp>
      <p:sp>
        <p:nvSpPr>
          <p:cNvPr id="18" name="Tick"/>
          <p:cNvSpPr/>
          <p:nvPr/>
        </p:nvSpPr>
        <p:spPr>
          <a:xfrm>
            <a:off x="9774936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26296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94</a:t>
            </a:r>
            <a:endParaRPr lang="en-US" sz="1200" dirty="0"/>
          </a:p>
        </p:txBody>
      </p:sp>
      <p:sp>
        <p:nvSpPr>
          <p:cNvPr id="20" name="Tick"/>
          <p:cNvSpPr/>
          <p:nvPr/>
        </p:nvSpPr>
        <p:spPr>
          <a:xfrm>
            <a:off x="10081260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532620" y="39593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95</a:t>
            </a:r>
            <a:endParaRPr lang="en-US" sz="1200" dirty="0"/>
          </a:p>
        </p:txBody>
      </p:sp>
      <p:sp>
        <p:nvSpPr>
          <p:cNvPr id="22" name="Tick"/>
          <p:cNvSpPr/>
          <p:nvPr/>
        </p:nvSpPr>
        <p:spPr>
          <a:xfrm>
            <a:off x="11612880" y="3593592"/>
            <a:ext cx="0" cy="91440"/>
          </a:xfrm>
          <a:prstGeom prst="line">
            <a:avLst/>
          </a:prstGeom>
          <a:noFill/>
          <a:ln w="12700">
            <a:solidFill>
              <a:srgbClr val="4B636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1064240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36B"/>
                </a:solidFill>
              </a:rPr>
              <a:t>100 %</a:t>
            </a:r>
            <a:endParaRPr lang="en-US" sz="1200" dirty="0"/>
          </a:p>
        </p:txBody>
      </p:sp>
      <p:sp>
        <p:nvSpPr>
          <p:cNvPr id="24" name="Normal marker"/>
          <p:cNvSpPr/>
          <p:nvPr/>
        </p:nvSpPr>
        <p:spPr>
          <a:xfrm rot="10800000">
            <a:off x="10737342" y="3108960"/>
            <a:ext cx="219456" cy="18288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5" name="Card"/>
          <p:cNvSpPr/>
          <p:nvPr/>
        </p:nvSpPr>
        <p:spPr>
          <a:xfrm>
            <a:off x="5486400" y="4343400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6" name="Status dot"/>
          <p:cNvSpPr/>
          <p:nvPr/>
        </p:nvSpPr>
        <p:spPr>
          <a:xfrm>
            <a:off x="5669280" y="4498848"/>
            <a:ext cx="164592" cy="164592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989320" y="434340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Normal: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95–100%</a:t>
            </a:r>
            <a:endParaRPr lang="en-US" sz="1600" dirty="0"/>
          </a:p>
        </p:txBody>
      </p:sp>
      <p:sp>
        <p:nvSpPr>
          <p:cNvPr id="28" name="Card"/>
          <p:cNvSpPr/>
          <p:nvPr/>
        </p:nvSpPr>
        <p:spPr>
          <a:xfrm>
            <a:off x="5486400" y="4910328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9" name="Status dot"/>
          <p:cNvSpPr/>
          <p:nvPr/>
        </p:nvSpPr>
        <p:spPr>
          <a:xfrm>
            <a:off x="5669280" y="5065776"/>
            <a:ext cx="164592" cy="164592"/>
          </a:xfrm>
          <a:prstGeom prst="ellipse">
            <a:avLst/>
          </a:prstGeom>
          <a:solidFill>
            <a:srgbClr val="A1630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989320" y="49103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Low: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&lt;94%</a:t>
            </a:r>
            <a:endParaRPr lang="en-US" sz="1600" dirty="0"/>
          </a:p>
        </p:txBody>
      </p:sp>
      <p:sp>
        <p:nvSpPr>
          <p:cNvPr id="31" name="Card"/>
          <p:cNvSpPr/>
          <p:nvPr/>
        </p:nvSpPr>
        <p:spPr>
          <a:xfrm>
            <a:off x="5486400" y="5477256"/>
            <a:ext cx="612648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2" name="Status dot"/>
          <p:cNvSpPr/>
          <p:nvPr/>
        </p:nvSpPr>
        <p:spPr>
          <a:xfrm>
            <a:off x="5669280" y="5632704"/>
            <a:ext cx="164592" cy="164592"/>
          </a:xfrm>
          <a:prstGeom prst="ellipse">
            <a:avLst/>
          </a:prstGeom>
          <a:solidFill>
            <a:srgbClr val="BF2A2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989320" y="547725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Severe hypoxemia:  </a:t>
            </a:r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&lt;90%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SYSTEMIC EXAMINATION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Basic systemic examination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Basic systemic examination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is a focused physical examination of a specific body system to identify abnormal signs.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Main systems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548640" y="310896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7" name="Illustration heart" descr="Cardiovascular 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65203"/>
            <a:ext cx="1536192" cy="14534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50292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Cardiovascular system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2798064" y="310896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0" name="Illustration lungs" descr="Respiratory 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3438676"/>
            <a:ext cx="1536192" cy="130652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89504" y="50292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Respiratory system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047488" y="310896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3" name="Illustration abdomen" descr="Abdomen / Gastrointestinal syst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3365203"/>
            <a:ext cx="1536192" cy="14534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38928" y="50292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Abdomen / Gastrointestinal system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7296912" y="310896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6" name="Illustration brain" descr="Neurological syste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3417657"/>
            <a:ext cx="1536192" cy="134856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88352" y="50292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Neurological system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9546336" y="310896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9" name="Illustration bone" descr="Musculoskeletal syste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0656" y="3589723"/>
            <a:ext cx="1536192" cy="100443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637776" y="502920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Musculoskeletal system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SYSTEMIC EXAMINATION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Basic examination sequence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B636B"/>
                </a:solidFill>
              </a:rPr>
              <a:t>For most systems:</a:t>
            </a:r>
            <a:endParaRPr lang="en-US" sz="1800" dirty="0"/>
          </a:p>
        </p:txBody>
      </p:sp>
      <p:sp>
        <p:nvSpPr>
          <p:cNvPr id="5" name="Step circle"/>
          <p:cNvSpPr/>
          <p:nvPr/>
        </p:nvSpPr>
        <p:spPr>
          <a:xfrm>
            <a:off x="731520" y="2194560"/>
            <a:ext cx="2103120" cy="21031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25400">
            <a:solidFill>
              <a:schemeClr val="accent5">
                <a:alpha val="55000"/>
              </a:schemeClr>
            </a:solidFill>
            <a:prstDash val="solid"/>
          </a:ln>
        </p:spPr>
      </p:sp>
      <p:pic>
        <p:nvPicPr>
          <p:cNvPr id="6" name="Illustration eye" descr="Insp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94155"/>
            <a:ext cx="1463040" cy="11039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B636B"/>
                </a:solidFill>
              </a:rPr>
              <a:t>STEP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4846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Inspection</a:t>
            </a:r>
            <a:endParaRPr lang="en-US" sz="2600" dirty="0"/>
          </a:p>
        </p:txBody>
      </p:sp>
      <p:sp>
        <p:nvSpPr>
          <p:cNvPr id="9" name="Arrow"/>
          <p:cNvSpPr/>
          <p:nvPr/>
        </p:nvSpPr>
        <p:spPr>
          <a:xfrm>
            <a:off x="2971800" y="3081528"/>
            <a:ext cx="457200" cy="32918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Step circle"/>
          <p:cNvSpPr/>
          <p:nvPr/>
        </p:nvSpPr>
        <p:spPr>
          <a:xfrm>
            <a:off x="3611880" y="2194560"/>
            <a:ext cx="2103120" cy="21031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25400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11" name="Illustration hand" descr="Palp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574452"/>
            <a:ext cx="1463040" cy="13433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B636B"/>
                </a:solidFill>
              </a:rPr>
              <a:t>STEP 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4846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Palpation</a:t>
            </a:r>
            <a:endParaRPr lang="en-US" sz="2600" dirty="0"/>
          </a:p>
        </p:txBody>
      </p:sp>
      <p:sp>
        <p:nvSpPr>
          <p:cNvPr id="14" name="Arrow"/>
          <p:cNvSpPr/>
          <p:nvPr/>
        </p:nvSpPr>
        <p:spPr>
          <a:xfrm>
            <a:off x="5852160" y="3081528"/>
            <a:ext cx="457200" cy="32918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5" name="Step circle"/>
          <p:cNvSpPr/>
          <p:nvPr/>
        </p:nvSpPr>
        <p:spPr>
          <a:xfrm>
            <a:off x="6492240" y="2194560"/>
            <a:ext cx="2103120" cy="21031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25400">
            <a:solidFill>
              <a:schemeClr val="accent3">
                <a:alpha val="55000"/>
              </a:schemeClr>
            </a:solidFill>
            <a:prstDash val="solid"/>
          </a:ln>
        </p:spPr>
      </p:sp>
      <p:pic>
        <p:nvPicPr>
          <p:cNvPr id="16" name="Illustration percuss" descr="Percus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627653"/>
            <a:ext cx="1463040" cy="123693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4652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B636B"/>
                </a:solidFill>
              </a:rPr>
              <a:t>STEP 3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4846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Percussion</a:t>
            </a:r>
            <a:endParaRPr lang="en-US" sz="2600" dirty="0"/>
          </a:p>
        </p:txBody>
      </p:sp>
      <p:sp>
        <p:nvSpPr>
          <p:cNvPr id="19" name="Arrow"/>
          <p:cNvSpPr/>
          <p:nvPr/>
        </p:nvSpPr>
        <p:spPr>
          <a:xfrm>
            <a:off x="8732520" y="3081528"/>
            <a:ext cx="457200" cy="32918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0" name="Step circle"/>
          <p:cNvSpPr/>
          <p:nvPr/>
        </p:nvSpPr>
        <p:spPr>
          <a:xfrm>
            <a:off x="9372600" y="2194560"/>
            <a:ext cx="2103120" cy="21031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25400">
            <a:solidFill>
              <a:schemeClr val="accent2">
                <a:alpha val="55000"/>
              </a:schemeClr>
            </a:solidFill>
            <a:prstDash val="solid"/>
          </a:ln>
        </p:spPr>
      </p:sp>
      <p:pic>
        <p:nvPicPr>
          <p:cNvPr id="21" name="Illustration ausc" descr="Auscult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574452"/>
            <a:ext cx="1463040" cy="134333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B636B"/>
                </a:solidFill>
              </a:rPr>
              <a:t>STEP 4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0" y="4846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Auscultation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3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SYSTEM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3774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Cardiovascular System</a:t>
            </a:r>
            <a:endParaRPr lang="en-US" sz="4800" dirty="0"/>
          </a:p>
        </p:txBody>
      </p:sp>
      <p:sp>
        <p:nvSpPr>
          <p:cNvPr id="4" name="Topic chip"/>
          <p:cNvSpPr/>
          <p:nvPr/>
        </p:nvSpPr>
        <p:spPr>
          <a:xfrm>
            <a:off x="640080" y="4069080"/>
            <a:ext cx="1417320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0690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Inspection</a:t>
            </a:r>
            <a:endParaRPr lang="en-US" sz="1400" dirty="0"/>
          </a:p>
        </p:txBody>
      </p:sp>
      <p:sp>
        <p:nvSpPr>
          <p:cNvPr id="6" name="Topic chip"/>
          <p:cNvSpPr/>
          <p:nvPr/>
        </p:nvSpPr>
        <p:spPr>
          <a:xfrm>
            <a:off x="2194560" y="4069080"/>
            <a:ext cx="1316736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406908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Palpation</a:t>
            </a:r>
            <a:endParaRPr lang="en-US" sz="1400" dirty="0"/>
          </a:p>
        </p:txBody>
      </p:sp>
      <p:sp>
        <p:nvSpPr>
          <p:cNvPr id="8" name="Topic chip"/>
          <p:cNvSpPr/>
          <p:nvPr/>
        </p:nvSpPr>
        <p:spPr>
          <a:xfrm>
            <a:off x="3648456" y="4069080"/>
            <a:ext cx="1417320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48456" y="40690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Percussion</a:t>
            </a:r>
            <a:endParaRPr lang="en-US" sz="1400" dirty="0"/>
          </a:p>
        </p:txBody>
      </p:sp>
      <p:sp>
        <p:nvSpPr>
          <p:cNvPr id="10" name="Topic chip"/>
          <p:cNvSpPr/>
          <p:nvPr/>
        </p:nvSpPr>
        <p:spPr>
          <a:xfrm>
            <a:off x="5202936" y="4069080"/>
            <a:ext cx="1618488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02936" y="4069080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Auscultation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223760" y="1371600"/>
            <a:ext cx="4389120" cy="41148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/>
        </p:spPr>
      </p:sp>
      <p:pic>
        <p:nvPicPr>
          <p:cNvPr id="13" name="Illustration heart" descr="Cardiovascular 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698674"/>
            <a:ext cx="3657600" cy="346065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CARDIOVASCULAR SYSTEM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Cardiovascular system: inspection &amp; palpation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Step icon circle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chemeClr val="accent5">
              <a:alpha val="15000"/>
            </a:schemeClr>
          </a:solidFill>
          <a:ln/>
        </p:spPr>
      </p:sp>
      <p:pic>
        <p:nvPicPr>
          <p:cNvPr id="6" name="Illustration eye" descr="Insp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59723"/>
            <a:ext cx="475488" cy="3587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556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Inspection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3063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Pallor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Cyanosis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Edema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JVP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Precordial pulsations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4297680" y="155448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0" name="Step icon circle"/>
          <p:cNvSpPr/>
          <p:nvPr/>
        </p:nvSpPr>
        <p:spPr>
          <a:xfrm>
            <a:off x="4526280" y="1755648"/>
            <a:ext cx="566928" cy="566928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1" name="Illustration hand" descr="Palp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0820"/>
            <a:ext cx="475488" cy="4365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12080" y="17556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Palpation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514600"/>
            <a:ext cx="3063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Pulse: rate, rhythm, volume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Peripheral pulses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Capillary refill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Apex beat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Edema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804672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accent1">
              <a:alpha val="7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5" name="Illustration pulse" descr="Pulse: rate, rhythm, volu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639760"/>
            <a:ext cx="3246120" cy="208139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46720" y="56692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B636B"/>
                </a:solidFill>
              </a:rPr>
              <a:t>PULSE: RATE, RHYTHM, VOLUME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CARDIOVASCULAR SYSTEM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Cardiovascular system: percussion &amp; auscultation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291840" cy="45720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Step icon circle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chemeClr val="accent3">
              <a:alpha val="15000"/>
            </a:schemeClr>
          </a:solidFill>
          <a:ln/>
        </p:spPr>
      </p:sp>
      <p:pic>
        <p:nvPicPr>
          <p:cNvPr id="6" name="Illustration percuss" descr="Percu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38110"/>
            <a:ext cx="475488" cy="4020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556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Percussion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2788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Usually not routinely performed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May help estimate cardiac borders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4023360" y="1554480"/>
            <a:ext cx="3291840" cy="45720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0" name="Step icon circle"/>
          <p:cNvSpPr/>
          <p:nvPr/>
        </p:nvSpPr>
        <p:spPr>
          <a:xfrm>
            <a:off x="4251960" y="1755648"/>
            <a:ext cx="566928" cy="56692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1" name="Illustration ausc" descr="Auscult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820820"/>
            <a:ext cx="475488" cy="4365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37760" y="17556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Auscultation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2514600"/>
            <a:ext cx="2788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S1 and S2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S3 / S4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Murmurs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Main valve areas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7498080" y="1554480"/>
            <a:ext cx="4160520" cy="4572000"/>
          </a:xfrm>
          <a:prstGeom prst="roundRect">
            <a:avLst>
              <a:gd name="adj" fmla="val 2637"/>
            </a:avLst>
          </a:prstGeom>
          <a:solidFill>
            <a:schemeClr val="accent1">
              <a:alpha val="7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5" name="Illustration valves" descr="Main valve are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173" y="1737360"/>
            <a:ext cx="3598333" cy="3886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98080" y="56692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B636B"/>
                </a:solidFill>
              </a:rPr>
              <a:t>MAIN VALVE AREAS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4C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SYSTEM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3774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Respiratory System</a:t>
            </a:r>
            <a:endParaRPr lang="en-US" sz="4800" dirty="0"/>
          </a:p>
        </p:txBody>
      </p:sp>
      <p:sp>
        <p:nvSpPr>
          <p:cNvPr id="4" name="Topic chip"/>
          <p:cNvSpPr/>
          <p:nvPr/>
        </p:nvSpPr>
        <p:spPr>
          <a:xfrm>
            <a:off x="640080" y="4069080"/>
            <a:ext cx="1417320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0690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Inspection</a:t>
            </a:r>
            <a:endParaRPr lang="en-US" sz="1400" dirty="0"/>
          </a:p>
        </p:txBody>
      </p:sp>
      <p:sp>
        <p:nvSpPr>
          <p:cNvPr id="6" name="Topic chip"/>
          <p:cNvSpPr/>
          <p:nvPr/>
        </p:nvSpPr>
        <p:spPr>
          <a:xfrm>
            <a:off x="2194560" y="4069080"/>
            <a:ext cx="1316736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406908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Palpation</a:t>
            </a:r>
            <a:endParaRPr lang="en-US" sz="1400" dirty="0"/>
          </a:p>
        </p:txBody>
      </p:sp>
      <p:sp>
        <p:nvSpPr>
          <p:cNvPr id="8" name="Topic chip"/>
          <p:cNvSpPr/>
          <p:nvPr/>
        </p:nvSpPr>
        <p:spPr>
          <a:xfrm>
            <a:off x="3648456" y="4069080"/>
            <a:ext cx="1417320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48456" y="40690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Percussion</a:t>
            </a:r>
            <a:endParaRPr lang="en-US" sz="1400" dirty="0"/>
          </a:p>
        </p:txBody>
      </p:sp>
      <p:sp>
        <p:nvSpPr>
          <p:cNvPr id="10" name="Topic chip"/>
          <p:cNvSpPr/>
          <p:nvPr/>
        </p:nvSpPr>
        <p:spPr>
          <a:xfrm>
            <a:off x="5202936" y="4069080"/>
            <a:ext cx="1618488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02936" y="4069080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Auscultation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223760" y="1371600"/>
            <a:ext cx="4389120" cy="41148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/>
        </p:spPr>
      </p:sp>
      <p:pic>
        <p:nvPicPr>
          <p:cNvPr id="13" name="Illustration lungs" descr="Respiratory 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873609"/>
            <a:ext cx="3657600" cy="311078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RESPIRATORY SYSTEM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Respiratory system: inspection &amp; palpation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Step icon circle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chemeClr val="accent5">
              <a:alpha val="15000"/>
            </a:schemeClr>
          </a:solidFill>
          <a:ln/>
        </p:spPr>
      </p:sp>
      <p:pic>
        <p:nvPicPr>
          <p:cNvPr id="6" name="Illustration eye" descr="Insp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59723"/>
            <a:ext cx="475488" cy="3587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556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Inspection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3063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Respiratory rate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Pattern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Chest shape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Chest movement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Accessory muscle use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Cyanosis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4297680" y="155448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0" name="Step icon circle"/>
          <p:cNvSpPr/>
          <p:nvPr/>
        </p:nvSpPr>
        <p:spPr>
          <a:xfrm>
            <a:off x="4526280" y="1755648"/>
            <a:ext cx="566928" cy="566928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1" name="Illustration hand" descr="Palp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0820"/>
            <a:ext cx="475488" cy="4365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12080" y="17556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Palpation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514600"/>
            <a:ext cx="3063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Chest expansion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Tracheal position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Tactile vocal fremitus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804672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accent2">
              <a:alpha val="7000"/>
            </a:schemeClr>
          </a:solidFill>
          <a:ln w="9525">
            <a:solidFill>
              <a:schemeClr val="accent2">
                <a:alpha val="40000"/>
              </a:schemeClr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5" name="Illustration lungs" descr="Chest movement &amp; expan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300050"/>
            <a:ext cx="3246120" cy="27608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46720" y="56692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B636B"/>
                </a:solidFill>
              </a:rPr>
              <a:t>CHEST MOVEMENT &amp; EXPANSION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RESPIRATORY SYSTEM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Respiratory system: percussion &amp; auscultation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603504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Step icon circle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chemeClr val="accent3">
              <a:alpha val="15000"/>
            </a:schemeClr>
          </a:solidFill>
          <a:ln/>
        </p:spPr>
      </p:sp>
      <p:pic>
        <p:nvPicPr>
          <p:cNvPr id="6" name="Illustration percuss" descr="Percu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38110"/>
            <a:ext cx="475488" cy="4020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556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Percussion</a:t>
            </a:r>
            <a:endParaRPr lang="en-US" sz="2200" dirty="0"/>
          </a:p>
        </p:txBody>
      </p:sp>
      <p:sp>
        <p:nvSpPr>
          <p:cNvPr id="8" name="Percussion note"/>
          <p:cNvSpPr/>
          <p:nvPr/>
        </p:nvSpPr>
        <p:spPr>
          <a:xfrm>
            <a:off x="822960" y="2606040"/>
            <a:ext cx="5486400" cy="841248"/>
          </a:xfrm>
          <a:prstGeom prst="roundRect">
            <a:avLst>
              <a:gd name="adj" fmla="val 10870"/>
            </a:avLst>
          </a:prstGeom>
          <a:solidFill>
            <a:srgbClr val="1B7A43">
              <a:alpha val="10000"/>
            </a:srgbClr>
          </a:solidFill>
          <a:ln w="12700">
            <a:solidFill>
              <a:srgbClr val="1B7A43">
                <a:alpha val="5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51560" y="260604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7A43"/>
                </a:solidFill>
              </a:rPr>
              <a:t>Resonant</a:t>
            </a:r>
            <a:endParaRPr lang="en-US" sz="2000" dirty="0"/>
          </a:p>
        </p:txBody>
      </p:sp>
      <p:sp>
        <p:nvSpPr>
          <p:cNvPr id="10" name="Arrow"/>
          <p:cNvSpPr/>
          <p:nvPr/>
        </p:nvSpPr>
        <p:spPr>
          <a:xfrm>
            <a:off x="3154680" y="2898648"/>
            <a:ext cx="384048" cy="256032"/>
          </a:xfrm>
          <a:prstGeom prst="rightArrow">
            <a:avLst/>
          </a:prstGeom>
          <a:solidFill>
            <a:srgbClr val="1B7A4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03320" y="2606040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Normal</a:t>
            </a:r>
            <a:endParaRPr lang="en-US" sz="1800" dirty="0"/>
          </a:p>
        </p:txBody>
      </p:sp>
      <p:sp>
        <p:nvSpPr>
          <p:cNvPr id="12" name="Percussion note"/>
          <p:cNvSpPr/>
          <p:nvPr/>
        </p:nvSpPr>
        <p:spPr>
          <a:xfrm>
            <a:off x="822960" y="3630168"/>
            <a:ext cx="5486400" cy="841248"/>
          </a:xfrm>
          <a:prstGeom prst="roundRect">
            <a:avLst>
              <a:gd name="adj" fmla="val 10870"/>
            </a:avLst>
          </a:prstGeom>
          <a:solidFill>
            <a:srgbClr val="A1630A">
              <a:alpha val="10000"/>
            </a:srgbClr>
          </a:solidFill>
          <a:ln w="12700">
            <a:solidFill>
              <a:srgbClr val="A1630A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51560" y="3630168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1630A"/>
                </a:solidFill>
              </a:rPr>
              <a:t>Dull</a:t>
            </a:r>
            <a:endParaRPr lang="en-US" sz="2000" dirty="0"/>
          </a:p>
        </p:txBody>
      </p:sp>
      <p:sp>
        <p:nvSpPr>
          <p:cNvPr id="14" name="Arrow"/>
          <p:cNvSpPr/>
          <p:nvPr/>
        </p:nvSpPr>
        <p:spPr>
          <a:xfrm>
            <a:off x="3154680" y="3922776"/>
            <a:ext cx="384048" cy="256032"/>
          </a:xfrm>
          <a:prstGeom prst="rightArrow">
            <a:avLst/>
          </a:prstGeom>
          <a:solidFill>
            <a:srgbClr val="A163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703320" y="3630168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Consolidation / effusion</a:t>
            </a:r>
            <a:endParaRPr lang="en-US" sz="1800" dirty="0"/>
          </a:p>
        </p:txBody>
      </p:sp>
      <p:sp>
        <p:nvSpPr>
          <p:cNvPr id="16" name="Percussion note"/>
          <p:cNvSpPr/>
          <p:nvPr/>
        </p:nvSpPr>
        <p:spPr>
          <a:xfrm>
            <a:off x="822960" y="4654296"/>
            <a:ext cx="5486400" cy="841248"/>
          </a:xfrm>
          <a:prstGeom prst="roundRect">
            <a:avLst>
              <a:gd name="adj" fmla="val 10870"/>
            </a:avLst>
          </a:prstGeom>
          <a:solidFill>
            <a:srgbClr val="BF2A2A">
              <a:alpha val="10000"/>
            </a:srgbClr>
          </a:solidFill>
          <a:ln w="12700">
            <a:solidFill>
              <a:srgbClr val="BF2A2A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51560" y="4654296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2A2A"/>
                </a:solidFill>
              </a:rPr>
              <a:t>Hyperresonant</a:t>
            </a:r>
            <a:endParaRPr lang="en-US" sz="2000" dirty="0"/>
          </a:p>
        </p:txBody>
      </p:sp>
      <p:sp>
        <p:nvSpPr>
          <p:cNvPr id="18" name="Arrow"/>
          <p:cNvSpPr/>
          <p:nvPr/>
        </p:nvSpPr>
        <p:spPr>
          <a:xfrm>
            <a:off x="3154680" y="4946904"/>
            <a:ext cx="384048" cy="256032"/>
          </a:xfrm>
          <a:prstGeom prst="rightArrow">
            <a:avLst/>
          </a:prstGeom>
          <a:solidFill>
            <a:srgbClr val="BF2A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703320" y="4654296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Pneumothorax</a:t>
            </a:r>
            <a:endParaRPr lang="en-US" sz="1800" dirty="0"/>
          </a:p>
        </p:txBody>
      </p:sp>
      <p:sp>
        <p:nvSpPr>
          <p:cNvPr id="20" name="Card"/>
          <p:cNvSpPr/>
          <p:nvPr/>
        </p:nvSpPr>
        <p:spPr>
          <a:xfrm>
            <a:off x="6812280" y="1554480"/>
            <a:ext cx="484632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1" name="Step icon circle"/>
          <p:cNvSpPr/>
          <p:nvPr/>
        </p:nvSpPr>
        <p:spPr>
          <a:xfrm>
            <a:off x="7040880" y="1755648"/>
            <a:ext cx="566928" cy="56692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2" name="Illustration ausc" descr="Auscult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820820"/>
            <a:ext cx="475488" cy="43658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726680" y="175564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Auscultation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7086600" y="2514600"/>
            <a:ext cx="43434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Breath sounds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Wheeze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Crackles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Bronchial breathing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Reduced / absent sounds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8A4A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SYSTEM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3774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Abdomen</a:t>
            </a:r>
            <a:endParaRPr lang="en-US" sz="4800" dirty="0"/>
          </a:p>
        </p:txBody>
      </p:sp>
      <p:sp>
        <p:nvSpPr>
          <p:cNvPr id="4" name="Topic chip"/>
          <p:cNvSpPr/>
          <p:nvPr/>
        </p:nvSpPr>
        <p:spPr>
          <a:xfrm>
            <a:off x="640080" y="4069080"/>
            <a:ext cx="1417320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0690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Inspection</a:t>
            </a:r>
            <a:endParaRPr lang="en-US" sz="1400" dirty="0"/>
          </a:p>
        </p:txBody>
      </p:sp>
      <p:sp>
        <p:nvSpPr>
          <p:cNvPr id="6" name="Topic chip"/>
          <p:cNvSpPr/>
          <p:nvPr/>
        </p:nvSpPr>
        <p:spPr>
          <a:xfrm>
            <a:off x="2194560" y="4069080"/>
            <a:ext cx="1316736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406908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Palpation</a:t>
            </a:r>
            <a:endParaRPr lang="en-US" sz="1400" dirty="0"/>
          </a:p>
        </p:txBody>
      </p:sp>
      <p:sp>
        <p:nvSpPr>
          <p:cNvPr id="8" name="Topic chip"/>
          <p:cNvSpPr/>
          <p:nvPr/>
        </p:nvSpPr>
        <p:spPr>
          <a:xfrm>
            <a:off x="3648456" y="4069080"/>
            <a:ext cx="1417320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48456" y="40690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Percussion</a:t>
            </a:r>
            <a:endParaRPr lang="en-US" sz="1400" dirty="0"/>
          </a:p>
        </p:txBody>
      </p:sp>
      <p:sp>
        <p:nvSpPr>
          <p:cNvPr id="10" name="Topic chip"/>
          <p:cNvSpPr/>
          <p:nvPr/>
        </p:nvSpPr>
        <p:spPr>
          <a:xfrm>
            <a:off x="5202936" y="4069080"/>
            <a:ext cx="1618488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02936" y="4069080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Auscultation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223760" y="1371600"/>
            <a:ext cx="4389120" cy="41148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/>
        </p:spPr>
      </p:sp>
      <p:pic>
        <p:nvPicPr>
          <p:cNvPr id="13" name="Illustration abdomen" descr="Abdom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698674"/>
            <a:ext cx="3657600" cy="346065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ABDOMEN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Abdomen: inspection &amp; palpation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291840" cy="45720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Step icon circle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chemeClr val="accent5">
              <a:alpha val="15000"/>
            </a:schemeClr>
          </a:solidFill>
          <a:ln/>
        </p:spPr>
      </p:sp>
      <p:pic>
        <p:nvPicPr>
          <p:cNvPr id="6" name="Illustration eye" descr="Insp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59723"/>
            <a:ext cx="475488" cy="3587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556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Inspection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2788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Distension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Scars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Masses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Visible veins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Umbilicus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4023360" y="1554480"/>
            <a:ext cx="3291840" cy="45720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0" name="Step icon circle"/>
          <p:cNvSpPr/>
          <p:nvPr/>
        </p:nvSpPr>
        <p:spPr>
          <a:xfrm>
            <a:off x="4251960" y="1755648"/>
            <a:ext cx="566928" cy="566928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1" name="Illustration hand" descr="Palp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820820"/>
            <a:ext cx="475488" cy="4365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37760" y="17556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Palpation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2514600"/>
            <a:ext cx="2788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Tenderness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Guarding / rigidity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Masses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Liver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Spleen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Kidneys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7498080" y="1554480"/>
            <a:ext cx="4160520" cy="4572000"/>
          </a:xfrm>
          <a:prstGeom prst="roundRect">
            <a:avLst>
              <a:gd name="adj" fmla="val 2637"/>
            </a:avLst>
          </a:prstGeom>
          <a:solidFill>
            <a:schemeClr val="accent3">
              <a:alpha val="7000"/>
            </a:schemeClr>
          </a:solidFill>
          <a:ln w="9525">
            <a:solidFill>
              <a:schemeClr val="accent3">
                <a:alpha val="40000"/>
              </a:schemeClr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5" name="Illustration abdmap" descr="Liver · Spleen · Kidney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736" y="1737360"/>
            <a:ext cx="3737208" cy="3886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98080" y="56692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B636B"/>
                </a:solidFill>
              </a:rPr>
              <a:t>LIVER · SPLEEN · KIDNEYS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ABDOMEN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Abdomen: percussion &amp; auscultation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Step icon circle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chemeClr val="accent3">
              <a:alpha val="15000"/>
            </a:schemeClr>
          </a:solidFill>
          <a:ln/>
        </p:spPr>
      </p:sp>
      <p:pic>
        <p:nvPicPr>
          <p:cNvPr id="6" name="Illustration percuss" descr="Percu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38110"/>
            <a:ext cx="475488" cy="4020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556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Percussion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3063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Liver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Spleen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Ascites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4297680" y="155448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0" name="Step icon circle"/>
          <p:cNvSpPr/>
          <p:nvPr/>
        </p:nvSpPr>
        <p:spPr>
          <a:xfrm>
            <a:off x="4526280" y="1755648"/>
            <a:ext cx="566928" cy="56692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1" name="Illustration ausc" descr="Auscult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0820"/>
            <a:ext cx="475488" cy="4365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12080" y="17556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Auscultation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514600"/>
            <a:ext cx="3063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Bowel sounds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Bruits when indicated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804672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accent3">
              <a:alpha val="7000"/>
            </a:schemeClr>
          </a:solidFill>
          <a:ln w="9525">
            <a:solidFill>
              <a:schemeClr val="accent3">
                <a:alpha val="40000"/>
              </a:schemeClr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5" name="Illustration abdomen" descr="Abdomen / GI syst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44796"/>
            <a:ext cx="3246120" cy="307132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46720" y="56692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B636B"/>
                </a:solidFill>
              </a:rPr>
              <a:t>ABDOMEN / GI SYSTEM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F3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SYSTEM 4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3774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Neurological System</a:t>
            </a:r>
            <a:endParaRPr lang="en-US" sz="4800" dirty="0"/>
          </a:p>
        </p:txBody>
      </p:sp>
      <p:sp>
        <p:nvSpPr>
          <p:cNvPr id="4" name="Topic chip"/>
          <p:cNvSpPr/>
          <p:nvPr/>
        </p:nvSpPr>
        <p:spPr>
          <a:xfrm>
            <a:off x="640080" y="4069080"/>
            <a:ext cx="1417320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0690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Inspection</a:t>
            </a:r>
            <a:endParaRPr lang="en-US" sz="1400" dirty="0"/>
          </a:p>
        </p:txBody>
      </p:sp>
      <p:sp>
        <p:nvSpPr>
          <p:cNvPr id="6" name="Topic chip"/>
          <p:cNvSpPr/>
          <p:nvPr/>
        </p:nvSpPr>
        <p:spPr>
          <a:xfrm>
            <a:off x="2194560" y="4069080"/>
            <a:ext cx="1417320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40690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Assessment</a:t>
            </a:r>
            <a:endParaRPr lang="en-US" sz="1400" dirty="0"/>
          </a:p>
        </p:txBody>
      </p:sp>
      <p:sp>
        <p:nvSpPr>
          <p:cNvPr id="8" name="Topic chip"/>
          <p:cNvSpPr/>
          <p:nvPr/>
        </p:nvSpPr>
        <p:spPr>
          <a:xfrm>
            <a:off x="3749040" y="4069080"/>
            <a:ext cx="1216152" cy="402336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4069080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Reflexes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7223760" y="1371600"/>
            <a:ext cx="4389120" cy="41148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/>
        </p:spPr>
      </p:sp>
      <p:pic>
        <p:nvPicPr>
          <p:cNvPr id="11" name="Illustration brain" descr="Neurological 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823565"/>
            <a:ext cx="3657600" cy="321087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NEUROLOGICAL SYSTEM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Neurological system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429000" cy="4572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Step icon circle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chemeClr val="accent5">
              <a:alpha val="15000"/>
            </a:schemeClr>
          </a:solidFill>
          <a:ln/>
        </p:spPr>
      </p:sp>
      <p:pic>
        <p:nvPicPr>
          <p:cNvPr id="6" name="Illustration eye" descr="Insp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59723"/>
            <a:ext cx="475488" cy="3587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55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Inspection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Level of consciousness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Speech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Posture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Involuntary movements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4160520" y="1554480"/>
            <a:ext cx="3429000" cy="4572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0" name="Step icon circle"/>
          <p:cNvSpPr/>
          <p:nvPr/>
        </p:nvSpPr>
        <p:spPr>
          <a:xfrm>
            <a:off x="4389120" y="1755648"/>
            <a:ext cx="566928" cy="566928"/>
          </a:xfrm>
          <a:prstGeom prst="ellipse">
            <a:avLst/>
          </a:prstGeom>
          <a:solidFill>
            <a:schemeClr val="accent4">
              <a:alpha val="15000"/>
            </a:schemeClr>
          </a:solidFill>
          <a:ln/>
        </p:spPr>
      </p:sp>
      <p:pic>
        <p:nvPicPr>
          <p:cNvPr id="11" name="Illustration brain" descr="Assess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30405"/>
            <a:ext cx="475488" cy="41741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74920" y="1755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Assessment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434840" y="251460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Cranial nerves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Muscle power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Muscle tone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Sensation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Coordination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Reflexes: deep tendon reflexes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7772400" y="1554480"/>
            <a:ext cx="3886200" cy="4572000"/>
          </a:xfrm>
          <a:prstGeom prst="roundRect">
            <a:avLst>
              <a:gd name="adj" fmla="val 2824"/>
            </a:avLst>
          </a:prstGeom>
          <a:solidFill>
            <a:schemeClr val="accent4">
              <a:alpha val="7000"/>
            </a:schemeClr>
          </a:solidFill>
          <a:ln w="9525">
            <a:solidFill>
              <a:schemeClr val="accent4">
                <a:alpha val="40000"/>
              </a:schemeClr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5" name="Illustration reflex" descr="Deep tendon reflex with a reflex hamm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881203"/>
            <a:ext cx="2377440" cy="199831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B636B"/>
                </a:solidFill>
              </a:rPr>
              <a:t>DEEP TENDON REFLEX</a:t>
            </a:r>
            <a:endParaRPr lang="en-US" sz="1100" dirty="0"/>
          </a:p>
        </p:txBody>
      </p:sp>
      <p:pic>
        <p:nvPicPr>
          <p:cNvPr id="17" name="Illustration gait" descr="Gai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184358"/>
            <a:ext cx="1188720" cy="14834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24128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B636B"/>
                </a:solidFill>
              </a:rPr>
              <a:t>GAIT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tx1"/>
                </a:solidFill>
              </a:rPr>
              <a:t>Thank
</a:t>
            </a:r>
            <a:pPr indent="0" marL="0">
              <a:buNone/>
            </a:pPr>
            <a:r>
              <a:rPr lang="en-US" sz="6400" b="1" dirty="0">
                <a:solidFill>
                  <a:schemeClr val="accent5"/>
                </a:solidFill>
              </a:rPr>
              <a:t>you</a:t>
            </a:r>
            <a:endParaRPr lang="en-US" sz="6400" dirty="0"/>
          </a:p>
        </p:txBody>
      </p:sp>
      <p:sp>
        <p:nvSpPr>
          <p:cNvPr id="3" name="Card"/>
          <p:cNvSpPr/>
          <p:nvPr/>
        </p:nvSpPr>
        <p:spPr>
          <a:xfrm>
            <a:off x="548640" y="3611880"/>
            <a:ext cx="603504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3767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636B"/>
                </a:solidFill>
              </a:rPr>
              <a:t>BASIC CLINICAL EXAMINATION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0690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Dr. Ruqaiah Aidaros Alhebshi</a:t>
            </a:r>
            <a:endParaRPr lang="en-US" sz="2800" dirty="0"/>
          </a:p>
        </p:txBody>
      </p:sp>
      <p:pic>
        <p:nvPicPr>
          <p:cNvPr id="6" name="Illustration steth" descr="Stethosc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329222"/>
            <a:ext cx="4389120" cy="419955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linical Examination">
  <a:themeElements>
    <a:clrScheme name="Clinical Examination">
      <a:dk1>
        <a:srgbClr val="11262D"/>
      </a:dk1>
      <a:lt1>
        <a:srgbClr val="FFFFFF"/>
      </a:lt1>
      <a:dk2>
        <a:srgbClr val="0B5259"/>
      </a:dk2>
      <a:lt2>
        <a:srgbClr val="EEF3F3"/>
      </a:lt2>
      <a:accent1>
        <a:srgbClr val="C0342B"/>
      </a:accent1>
      <a:accent2>
        <a:srgbClr val="1F63A8"/>
      </a:accent2>
      <a:accent3>
        <a:srgbClr val="B0620A"/>
      </a:accent3>
      <a:accent4>
        <a:srgbClr val="6A44B8"/>
      </a:accent4>
      <a:accent5>
        <a:srgbClr val="0E6C75"/>
      </a:accent5>
      <a:accent6>
        <a:srgbClr val="BF2A2A"/>
      </a:accent6>
      <a:hlink>
        <a:srgbClr val="1F63A8"/>
      </a:hlink>
      <a:folHlink>
        <a:srgbClr val="6A44B8"/>
      </a:folHlink>
    </a:clrScheme>
    <a:fontScheme name="Clinical Examinat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Clinical Examination</dc:title>
  <dc:subject>PptxGenJS Presentation</dc:subject>
  <dc:creator>Dr. Ruqaiah Aidaros Alhebshi</dc:creator>
  <cp:lastModifiedBy>Dr. Ruqaiah Aidaros Alhebshi</cp:lastModifiedBy>
  <cp:revision>1</cp:revision>
  <dcterms:created xsi:type="dcterms:W3CDTF">2026-10-07T14:11:12Z</dcterms:created>
  <dcterms:modified xsi:type="dcterms:W3CDTF">2026-10-07T14:11:13Z</dcterms:modified>
</cp:coreProperties>
</file>